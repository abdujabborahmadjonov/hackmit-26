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problem in one sentence: great teaching is everywhere, but the right educators rarely find each other. EduMatch connects educators by how they teach, then carries that context into resources, planning, and grounded AI guidance.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problem as context loss, not a lack of content. Directories match titles. Resource libraries match keywords. Generic AI answers without knowing the class. EduMatch preserves teaching context across the entire workflow.</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core product insight. One semantic teaching profile and one class profile become reusable context. They power people matching, resource ranking, technique search, planning-mode pitfalls, and grounded mentor conversations.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Demo Alice’s match page. Point to Bob, the 85% score, and the reason list. Then open “Why this match?” or mention that users can tune the algorithm and watch the ranking reorder live. The score is inspectable and actionable.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Show that EduMatch is not only a social graph. Teachers can import a syllabus or create a class profile. That class context powers technique search and planning mode, while the resource library ranks materials for actual fit.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Trust is our differentiation. The recommendation score is decomposed. Mentor claims include sources. The server validates citations, marks outside research, and a persona without supporting material declines instead of hallucinating.</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live now. The demo includes 1,000 educators and 5,000 resources. The stack is React, FastAPI, Postgres with pgvector, and optional Elasticsearch. The repository includes migrations, authorization checks, uploads, CI, and end-to-end smoke tests.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with: Better teaching already exists—in the experience of educators everywhere. EduMatch helps that knowledge travel to the right person, in the right classroom, with evidence attached. Invite the judges to open the live demo and start with Alice.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Oval 1"/>
          <p:cNvSpPr/>
          <p:nvPr/>
        </p:nvSpPr>
        <p:spPr>
          <a:xfrm>
            <a:off x="621792" y="384048"/>
            <a:ext cx="292608" cy="292608"/>
          </a:xfrm>
          <a:prstGeom prst="ellipse">
            <a:avLst/>
          </a:prstGeom>
          <a:solidFill>
            <a:srgbClr val="D9FF63"/>
          </a:solidFill>
          <a:ln w="12700">
            <a:solidFill>
              <a:srgbClr val="D9FF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16052"/>
            <a:ext cx="292608" cy="182880"/>
          </a:xfrm>
          <a:prstGeom prst="rect">
            <a:avLst/>
          </a:prstGeom>
          <a:noFill/>
        </p:spPr>
        <p:txBody>
          <a:bodyPr wrap="none" lIns="0" rIns="0" tIns="0" bIns="0" anchor="t">
            <a:spAutoFit/>
          </a:bodyPr>
          <a:lstStyle/>
          <a:p>
            <a:pPr algn="ctr">
              <a:lnSpc>
                <a:spcPct val="100000"/>
              </a:lnSpc>
            </a:pPr>
            <a:r>
              <a:rPr sz="900" b="1">
                <a:solidFill>
                  <a:srgbClr val="0B1020"/>
                </a:solidFill>
                <a:latin typeface="Aptos"/>
              </a:rPr>
              <a:t>E</a:t>
            </a:r>
          </a:p>
        </p:txBody>
      </p:sp>
      <p:sp>
        <p:nvSpPr>
          <p:cNvPr id="4" name="TextBox 3"/>
          <p:cNvSpPr txBox="1"/>
          <p:nvPr/>
        </p:nvSpPr>
        <p:spPr>
          <a:xfrm>
            <a:off x="1005840" y="411480"/>
            <a:ext cx="1097280" cy="219456"/>
          </a:xfrm>
          <a:prstGeom prst="rect">
            <a:avLst/>
          </a:prstGeom>
          <a:noFill/>
        </p:spPr>
        <p:txBody>
          <a:bodyPr wrap="none" lIns="0" rIns="0" tIns="0" bIns="0" anchor="t">
            <a:spAutoFit/>
          </a:bodyPr>
          <a:lstStyle/>
          <a:p>
            <a:pPr algn="l">
              <a:lnSpc>
                <a:spcPct val="100000"/>
              </a:lnSpc>
            </a:pPr>
            <a:r>
              <a:rPr sz="1100" b="1">
                <a:solidFill>
                  <a:srgbClr val="FFFFFF"/>
                </a:solidFill>
                <a:latin typeface="Aptos"/>
              </a:rPr>
              <a:t>EduMatch</a:t>
            </a:r>
          </a:p>
        </p:txBody>
      </p:sp>
      <p:sp>
        <p:nvSpPr>
          <p:cNvPr id="5" name="TextBox 4"/>
          <p:cNvSpPr txBox="1"/>
          <p:nvPr/>
        </p:nvSpPr>
        <p:spPr>
          <a:xfrm>
            <a:off x="685800" y="1051560"/>
            <a:ext cx="3200400" cy="237744"/>
          </a:xfrm>
          <a:prstGeom prst="rect">
            <a:avLst/>
          </a:prstGeom>
          <a:noFill/>
        </p:spPr>
        <p:txBody>
          <a:bodyPr wrap="none" lIns="0" rIns="0" tIns="0" bIns="0" anchor="t">
            <a:spAutoFit/>
          </a:bodyPr>
          <a:lstStyle/>
          <a:p>
            <a:pPr algn="l">
              <a:lnSpc>
                <a:spcPct val="100000"/>
              </a:lnSpc>
            </a:pPr>
            <a:r>
              <a:rPr sz="900" b="1">
                <a:solidFill>
                  <a:srgbClr val="D9FF63"/>
                </a:solidFill>
                <a:latin typeface="Aptos"/>
              </a:rPr>
              <a:t>HACKMIT 2026 · LIVE PRODUCT</a:t>
            </a:r>
          </a:p>
        </p:txBody>
      </p:sp>
      <p:sp>
        <p:nvSpPr>
          <p:cNvPr id="6" name="TextBox 5"/>
          <p:cNvSpPr txBox="1"/>
          <p:nvPr/>
        </p:nvSpPr>
        <p:spPr>
          <a:xfrm>
            <a:off x="685800" y="1417320"/>
            <a:ext cx="5669280" cy="2331720"/>
          </a:xfrm>
          <a:prstGeom prst="rect">
            <a:avLst/>
          </a:prstGeom>
          <a:noFill/>
        </p:spPr>
        <p:txBody>
          <a:bodyPr wrap="none" lIns="0" rIns="0" tIns="0" bIns="0" anchor="t">
            <a:spAutoFit/>
          </a:bodyPr>
          <a:lstStyle/>
          <a:p>
            <a:pPr algn="l">
              <a:lnSpc>
                <a:spcPct val="90000"/>
              </a:lnSpc>
            </a:pPr>
            <a:r>
              <a:rPr sz="4300" b="1">
                <a:solidFill>
                  <a:srgbClr val="FFFFFF"/>
                </a:solidFill>
                <a:latin typeface="Aptos Display"/>
              </a:rPr>
              <a:t>The colleague who</a:t>
            </a:r>
            <a:br/>
            <a:r>
              <a:t>teaches like you</a:t>
            </a:r>
            <a:br/>
            <a:r>
              <a:t>is out there.</a:t>
            </a:r>
          </a:p>
        </p:txBody>
      </p:sp>
      <p:sp>
        <p:nvSpPr>
          <p:cNvPr id="7" name="TextBox 6"/>
          <p:cNvSpPr txBox="1"/>
          <p:nvPr/>
        </p:nvSpPr>
        <p:spPr>
          <a:xfrm>
            <a:off x="713232" y="4069080"/>
            <a:ext cx="5303520" cy="685800"/>
          </a:xfrm>
          <a:prstGeom prst="rect">
            <a:avLst/>
          </a:prstGeom>
          <a:noFill/>
        </p:spPr>
        <p:txBody>
          <a:bodyPr wrap="none" lIns="0" rIns="0" tIns="0" bIns="0" anchor="t">
            <a:spAutoFit/>
          </a:bodyPr>
          <a:lstStyle/>
          <a:p>
            <a:pPr algn="l">
              <a:lnSpc>
                <a:spcPct val="112000"/>
              </a:lnSpc>
            </a:pPr>
            <a:r>
              <a:rPr sz="1700" b="0">
                <a:solidFill>
                  <a:srgbClr val="BCC4D5"/>
                </a:solidFill>
                <a:latin typeface="Aptos"/>
              </a:rPr>
              <a:t>EduMatch turns teaching context into the right people,</a:t>
            </a:r>
            <a:br/>
            <a:r>
              <a:t>resources, techniques, and grounded guidance.</a:t>
            </a:r>
          </a:p>
        </p:txBody>
      </p:sp>
      <p:sp>
        <p:nvSpPr>
          <p:cNvPr id="8" name="Rounded Rectangle 7"/>
          <p:cNvSpPr/>
          <p:nvPr/>
        </p:nvSpPr>
        <p:spPr>
          <a:xfrm>
            <a:off x="6537960" y="1005840"/>
            <a:ext cx="4800600" cy="4526280"/>
          </a:xfrm>
          <a:prstGeom prst="roundRect">
            <a:avLst/>
          </a:prstGeom>
          <a:solidFill>
            <a:srgbClr val="151B2D"/>
          </a:solidFill>
          <a:ln w="12700">
            <a:solidFill>
              <a:srgbClr val="2E365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903720" y="1344168"/>
            <a:ext cx="2468880" cy="228600"/>
          </a:xfrm>
          <a:prstGeom prst="rect">
            <a:avLst/>
          </a:prstGeom>
          <a:noFill/>
        </p:spPr>
        <p:txBody>
          <a:bodyPr wrap="none" lIns="0" rIns="0" tIns="0" bIns="0" anchor="t">
            <a:spAutoFit/>
          </a:bodyPr>
          <a:lstStyle/>
          <a:p>
            <a:pPr algn="l">
              <a:lnSpc>
                <a:spcPct val="100000"/>
              </a:lnSpc>
            </a:pPr>
            <a:r>
              <a:rPr sz="800" b="1">
                <a:solidFill>
                  <a:srgbClr val="8E98AE"/>
                </a:solidFill>
                <a:latin typeface="Aptos"/>
              </a:rPr>
              <a:t>ALICE · PROJECT-BASED CS</a:t>
            </a:r>
          </a:p>
        </p:txBody>
      </p:sp>
      <p:sp>
        <p:nvSpPr>
          <p:cNvPr id="10" name="TextBox 9"/>
          <p:cNvSpPr txBox="1"/>
          <p:nvPr/>
        </p:nvSpPr>
        <p:spPr>
          <a:xfrm>
            <a:off x="7315200" y="1828800"/>
            <a:ext cx="3493008" cy="841248"/>
          </a:xfrm>
          <a:prstGeom prst="rect">
            <a:avLst/>
          </a:prstGeom>
          <a:noFill/>
        </p:spPr>
        <p:txBody>
          <a:bodyPr wrap="none" lIns="0" rIns="0" tIns="0" bIns="0" anchor="t">
            <a:spAutoFit/>
          </a:bodyPr>
          <a:lstStyle/>
          <a:p>
            <a:pPr algn="l">
              <a:lnSpc>
                <a:spcPct val="100000"/>
              </a:lnSpc>
            </a:pPr>
            <a:r>
              <a:rPr sz="1600" b="0">
                <a:solidFill>
                  <a:srgbClr val="FFFFFF"/>
                </a:solidFill>
                <a:latin typeface="Aptos"/>
              </a:rPr>
              <a:t>“My students memorize the syntax</a:t>
            </a:r>
            <a:br/>
            <a:r>
              <a:t>and freeze on the first real bug.”</a:t>
            </a:r>
          </a:p>
        </p:txBody>
      </p:sp>
      <p:sp>
        <p:nvSpPr>
          <p:cNvPr id="11" name="Rounded Rectangle 10"/>
          <p:cNvSpPr/>
          <p:nvPr/>
        </p:nvSpPr>
        <p:spPr>
          <a:xfrm>
            <a:off x="6903720" y="2852928"/>
            <a:ext cx="3749039" cy="1069848"/>
          </a:xfrm>
          <a:prstGeom prst="roundRect">
            <a:avLst/>
          </a:prstGeom>
          <a:solidFill>
            <a:srgbClr val="5239F4"/>
          </a:solidFill>
          <a:ln w="12700">
            <a:solidFill>
              <a:srgbClr val="5239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7159752" y="3136392"/>
            <a:ext cx="3246120" cy="502920"/>
          </a:xfrm>
          <a:prstGeom prst="rect">
            <a:avLst/>
          </a:prstGeom>
          <a:noFill/>
        </p:spPr>
        <p:txBody>
          <a:bodyPr wrap="none" lIns="0" rIns="0" tIns="0" bIns="0" anchor="t">
            <a:spAutoFit/>
          </a:bodyPr>
          <a:lstStyle/>
          <a:p>
            <a:pPr algn="l">
              <a:lnSpc>
                <a:spcPct val="100000"/>
              </a:lnSpc>
            </a:pPr>
            <a:r>
              <a:rPr sz="1500" b="1">
                <a:solidFill>
                  <a:srgbClr val="FFFFFF"/>
                </a:solidFill>
                <a:latin typeface="Aptos"/>
              </a:rPr>
              <a:t>Then stop teaching syntax and start</a:t>
            </a:r>
            <a:br/>
            <a:r>
              <a:t>teaching the bug.</a:t>
            </a:r>
          </a:p>
        </p:txBody>
      </p:sp>
      <p:sp>
        <p:nvSpPr>
          <p:cNvPr id="13" name="TextBox 12"/>
          <p:cNvSpPr txBox="1"/>
          <p:nvPr/>
        </p:nvSpPr>
        <p:spPr>
          <a:xfrm>
            <a:off x="6949440" y="4169663"/>
            <a:ext cx="3840480" cy="237744"/>
          </a:xfrm>
          <a:prstGeom prst="rect">
            <a:avLst/>
          </a:prstGeom>
          <a:noFill/>
        </p:spPr>
        <p:txBody>
          <a:bodyPr wrap="none" lIns="0" rIns="0" tIns="0" bIns="0" anchor="t">
            <a:spAutoFit/>
          </a:bodyPr>
          <a:lstStyle/>
          <a:p>
            <a:pPr algn="l">
              <a:lnSpc>
                <a:spcPct val="100000"/>
              </a:lnSpc>
            </a:pPr>
            <a:r>
              <a:rPr sz="900" b="0">
                <a:solidFill>
                  <a:srgbClr val="9EA7BA"/>
                </a:solidFill>
                <a:latin typeface="Aptos"/>
              </a:rPr>
              <a:t>↳ Grounded in an educator’s published material</a:t>
            </a:r>
          </a:p>
        </p:txBody>
      </p:sp>
      <p:sp>
        <p:nvSpPr>
          <p:cNvPr id="14" name="Oval 13"/>
          <p:cNvSpPr/>
          <p:nvPr/>
        </p:nvSpPr>
        <p:spPr>
          <a:xfrm>
            <a:off x="6903720" y="4663440"/>
            <a:ext cx="128016" cy="128016"/>
          </a:xfrm>
          <a:prstGeom prst="ellipse">
            <a:avLst/>
          </a:prstGeom>
          <a:solidFill>
            <a:srgbClr val="5CD6A8"/>
          </a:solidFill>
          <a:ln w="12700">
            <a:solidFill>
              <a:srgbClr val="5CD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7150608" y="4645152"/>
            <a:ext cx="3108960" cy="201168"/>
          </a:xfrm>
          <a:prstGeom prst="rect">
            <a:avLst/>
          </a:prstGeom>
          <a:noFill/>
        </p:spPr>
        <p:txBody>
          <a:bodyPr wrap="none" lIns="0" rIns="0" tIns="0" bIns="0" anchor="t">
            <a:spAutoFit/>
          </a:bodyPr>
          <a:lstStyle/>
          <a:p>
            <a:pPr algn="l">
              <a:lnSpc>
                <a:spcPct val="100000"/>
              </a:lnSpc>
            </a:pPr>
            <a:r>
              <a:rPr sz="900" b="1">
                <a:solidFill>
                  <a:srgbClr val="D9FF63"/>
                </a:solidFill>
                <a:latin typeface="Aptos"/>
              </a:rPr>
              <a:t>LIVE · EXPLAINABLE · CITED</a:t>
            </a:r>
          </a:p>
        </p:txBody>
      </p:sp>
      <p:sp>
        <p:nvSpPr>
          <p:cNvPr id="16" name="TextBox 15"/>
          <p:cNvSpPr txBox="1"/>
          <p:nvPr/>
        </p:nvSpPr>
        <p:spPr>
          <a:xfrm>
            <a:off x="713232" y="5321808"/>
            <a:ext cx="1508760" cy="384048"/>
          </a:xfrm>
          <a:prstGeom prst="rect">
            <a:avLst/>
          </a:prstGeom>
          <a:noFill/>
        </p:spPr>
        <p:txBody>
          <a:bodyPr wrap="none" lIns="0" rIns="0" tIns="0" bIns="0" anchor="t">
            <a:spAutoFit/>
          </a:bodyPr>
          <a:lstStyle/>
          <a:p>
            <a:pPr algn="l">
              <a:lnSpc>
                <a:spcPct val="100000"/>
              </a:lnSpc>
            </a:pPr>
            <a:r>
              <a:rPr sz="2300" b="1">
                <a:solidFill>
                  <a:srgbClr val="FFFFFF"/>
                </a:solidFill>
                <a:latin typeface="Aptos"/>
              </a:rPr>
              <a:t>1,000</a:t>
            </a:r>
          </a:p>
        </p:txBody>
      </p:sp>
      <p:sp>
        <p:nvSpPr>
          <p:cNvPr id="17" name="TextBox 16"/>
          <p:cNvSpPr txBox="1"/>
          <p:nvPr/>
        </p:nvSpPr>
        <p:spPr>
          <a:xfrm>
            <a:off x="713232" y="5705856"/>
            <a:ext cx="1508760" cy="219456"/>
          </a:xfrm>
          <a:prstGeom prst="rect">
            <a:avLst/>
          </a:prstGeom>
          <a:noFill/>
        </p:spPr>
        <p:txBody>
          <a:bodyPr wrap="none" lIns="0" rIns="0" tIns="0" bIns="0" anchor="t">
            <a:spAutoFit/>
          </a:bodyPr>
          <a:lstStyle/>
          <a:p>
            <a:pPr algn="l">
              <a:lnSpc>
                <a:spcPct val="100000"/>
              </a:lnSpc>
            </a:pPr>
            <a:r>
              <a:rPr sz="900" b="0">
                <a:solidFill>
                  <a:srgbClr val="8E98AE"/>
                </a:solidFill>
                <a:latin typeface="Aptos"/>
              </a:rPr>
              <a:t>educators</a:t>
            </a:r>
          </a:p>
        </p:txBody>
      </p:sp>
      <p:sp>
        <p:nvSpPr>
          <p:cNvPr id="18" name="TextBox 17"/>
          <p:cNvSpPr txBox="1"/>
          <p:nvPr/>
        </p:nvSpPr>
        <p:spPr>
          <a:xfrm>
            <a:off x="2450591" y="5321808"/>
            <a:ext cx="1508760" cy="384048"/>
          </a:xfrm>
          <a:prstGeom prst="rect">
            <a:avLst/>
          </a:prstGeom>
          <a:noFill/>
        </p:spPr>
        <p:txBody>
          <a:bodyPr wrap="none" lIns="0" rIns="0" tIns="0" bIns="0" anchor="t">
            <a:spAutoFit/>
          </a:bodyPr>
          <a:lstStyle/>
          <a:p>
            <a:pPr algn="l">
              <a:lnSpc>
                <a:spcPct val="100000"/>
              </a:lnSpc>
            </a:pPr>
            <a:r>
              <a:rPr sz="2300" b="1">
                <a:solidFill>
                  <a:srgbClr val="FFFFFF"/>
                </a:solidFill>
                <a:latin typeface="Aptos"/>
              </a:rPr>
              <a:t>5,000</a:t>
            </a:r>
          </a:p>
        </p:txBody>
      </p:sp>
      <p:sp>
        <p:nvSpPr>
          <p:cNvPr id="19" name="TextBox 18"/>
          <p:cNvSpPr txBox="1"/>
          <p:nvPr/>
        </p:nvSpPr>
        <p:spPr>
          <a:xfrm>
            <a:off x="2450591" y="5705856"/>
            <a:ext cx="1508760" cy="219456"/>
          </a:xfrm>
          <a:prstGeom prst="rect">
            <a:avLst/>
          </a:prstGeom>
          <a:noFill/>
        </p:spPr>
        <p:txBody>
          <a:bodyPr wrap="none" lIns="0" rIns="0" tIns="0" bIns="0" anchor="t">
            <a:spAutoFit/>
          </a:bodyPr>
          <a:lstStyle/>
          <a:p>
            <a:pPr algn="l">
              <a:lnSpc>
                <a:spcPct val="100000"/>
              </a:lnSpc>
            </a:pPr>
            <a:r>
              <a:rPr sz="900" b="0">
                <a:solidFill>
                  <a:srgbClr val="8E98AE"/>
                </a:solidFill>
                <a:latin typeface="Aptos"/>
              </a:rPr>
              <a:t>resources</a:t>
            </a:r>
          </a:p>
        </p:txBody>
      </p:sp>
      <p:sp>
        <p:nvSpPr>
          <p:cNvPr id="20" name="TextBox 19"/>
          <p:cNvSpPr txBox="1"/>
          <p:nvPr/>
        </p:nvSpPr>
        <p:spPr>
          <a:xfrm>
            <a:off x="4187952" y="5321808"/>
            <a:ext cx="1508760" cy="384048"/>
          </a:xfrm>
          <a:prstGeom prst="rect">
            <a:avLst/>
          </a:prstGeom>
          <a:noFill/>
        </p:spPr>
        <p:txBody>
          <a:bodyPr wrap="none" lIns="0" rIns="0" tIns="0" bIns="0" anchor="t">
            <a:spAutoFit/>
          </a:bodyPr>
          <a:lstStyle/>
          <a:p>
            <a:pPr algn="l">
              <a:lnSpc>
                <a:spcPct val="100000"/>
              </a:lnSpc>
            </a:pPr>
            <a:r>
              <a:rPr sz="2300" b="1">
                <a:solidFill>
                  <a:srgbClr val="FFFFFF"/>
                </a:solidFill>
                <a:latin typeface="Aptos"/>
              </a:rPr>
              <a:t>6</a:t>
            </a:r>
          </a:p>
        </p:txBody>
      </p:sp>
      <p:sp>
        <p:nvSpPr>
          <p:cNvPr id="21" name="TextBox 20"/>
          <p:cNvSpPr txBox="1"/>
          <p:nvPr/>
        </p:nvSpPr>
        <p:spPr>
          <a:xfrm>
            <a:off x="4187952" y="5705856"/>
            <a:ext cx="1508760" cy="219456"/>
          </a:xfrm>
          <a:prstGeom prst="rect">
            <a:avLst/>
          </a:prstGeom>
          <a:noFill/>
        </p:spPr>
        <p:txBody>
          <a:bodyPr wrap="none" lIns="0" rIns="0" tIns="0" bIns="0" anchor="t">
            <a:spAutoFit/>
          </a:bodyPr>
          <a:lstStyle/>
          <a:p>
            <a:pPr algn="l">
              <a:lnSpc>
                <a:spcPct val="100000"/>
              </a:lnSpc>
            </a:pPr>
            <a:r>
              <a:rPr sz="900" b="0">
                <a:solidFill>
                  <a:srgbClr val="8E98AE"/>
                </a:solidFill>
                <a:latin typeface="Aptos"/>
              </a:rPr>
              <a:t>visible factors</a:t>
            </a:r>
          </a:p>
        </p:txBody>
      </p:sp>
      <p:sp>
        <p:nvSpPr>
          <p:cNvPr id="22" name="TextBox 21"/>
          <p:cNvSpPr txBox="1"/>
          <p:nvPr/>
        </p:nvSpPr>
        <p:spPr>
          <a:xfrm>
            <a:off x="6565392" y="6016752"/>
            <a:ext cx="4480560" cy="292608"/>
          </a:xfrm>
          <a:prstGeom prst="rect">
            <a:avLst/>
          </a:prstGeom>
          <a:noFill/>
        </p:spPr>
        <p:txBody>
          <a:bodyPr wrap="none" lIns="0" rIns="0" tIns="0" bIns="0" anchor="t">
            <a:spAutoFit/>
          </a:bodyPr>
          <a:lstStyle/>
          <a:p>
            <a:pPr algn="l">
              <a:lnSpc>
                <a:spcPct val="100000"/>
              </a:lnSpc>
            </a:pPr>
            <a:r>
              <a:rPr sz="1300" b="1">
                <a:solidFill>
                  <a:srgbClr val="FFFFFF"/>
                </a:solidFill>
                <a:latin typeface="Aptos"/>
              </a:rPr>
              <a:t>edumatch-web.onrender.com</a:t>
            </a:r>
          </a:p>
        </p:txBody>
      </p:sp>
      <p:sp>
        <p:nvSpPr>
          <p:cNvPr id="23" name="TextBox 22"/>
          <p:cNvSpPr txBox="1"/>
          <p:nvPr/>
        </p:nvSpPr>
        <p:spPr>
          <a:xfrm>
            <a:off x="640080" y="6510528"/>
            <a:ext cx="2743200" cy="164592"/>
          </a:xfrm>
          <a:prstGeom prst="rect">
            <a:avLst/>
          </a:prstGeom>
          <a:noFill/>
        </p:spPr>
        <p:txBody>
          <a:bodyPr wrap="none" lIns="0" rIns="0" tIns="0" bIns="0" anchor="t">
            <a:spAutoFit/>
          </a:bodyPr>
          <a:lstStyle/>
          <a:p>
            <a:pPr algn="l">
              <a:lnSpc>
                <a:spcPct val="100000"/>
              </a:lnSpc>
            </a:pPr>
            <a:r>
              <a:rPr sz="750" b="1">
                <a:solidFill>
                  <a:srgbClr val="AAB2C2"/>
                </a:solidFill>
                <a:latin typeface="Aptos"/>
              </a:rPr>
              <a:t>EDUMATCH · HACKMIT 2026</a:t>
            </a:r>
          </a:p>
        </p:txBody>
      </p:sp>
      <p:sp>
        <p:nvSpPr>
          <p:cNvPr id="24" name="TextBox 23"/>
          <p:cNvSpPr txBox="1"/>
          <p:nvPr/>
        </p:nvSpPr>
        <p:spPr>
          <a:xfrm>
            <a:off x="11018520" y="6473952"/>
            <a:ext cx="502920" cy="201168"/>
          </a:xfrm>
          <a:prstGeom prst="rect">
            <a:avLst/>
          </a:prstGeom>
          <a:noFill/>
        </p:spPr>
        <p:txBody>
          <a:bodyPr wrap="none" lIns="0" rIns="0" tIns="0" bIns="0" anchor="t">
            <a:spAutoFit/>
          </a:bodyPr>
          <a:lstStyle/>
          <a:p>
            <a:pPr algn="r">
              <a:lnSpc>
                <a:spcPct val="100000"/>
              </a:lnSpc>
            </a:pPr>
            <a:r>
              <a:rPr sz="800" b="1">
                <a:solidFill>
                  <a:srgbClr val="AAB2C2"/>
                </a:solidFill>
                <a:latin typeface="Aptos"/>
              </a:rPr>
              <a:t>01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Oval 1"/>
          <p:cNvSpPr/>
          <p:nvPr/>
        </p:nvSpPr>
        <p:spPr>
          <a:xfrm>
            <a:off x="621792" y="384048"/>
            <a:ext cx="292608" cy="292608"/>
          </a:xfrm>
          <a:prstGeom prst="ellipse">
            <a:avLst/>
          </a:prstGeom>
          <a:solidFill>
            <a:srgbClr val="5239F4"/>
          </a:solidFill>
          <a:ln w="12700">
            <a:solidFill>
              <a:srgbClr val="5239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16052"/>
            <a:ext cx="292608" cy="182880"/>
          </a:xfrm>
          <a:prstGeom prst="rect">
            <a:avLst/>
          </a:prstGeom>
          <a:noFill/>
        </p:spPr>
        <p:txBody>
          <a:bodyPr wrap="none" lIns="0" rIns="0" tIns="0" bIns="0" anchor="t">
            <a:spAutoFit/>
          </a:bodyPr>
          <a:lstStyle/>
          <a:p>
            <a:pPr algn="ctr">
              <a:lnSpc>
                <a:spcPct val="100000"/>
              </a:lnSpc>
            </a:pPr>
            <a:r>
              <a:rPr sz="900" b="1">
                <a:solidFill>
                  <a:srgbClr val="FFFFFF"/>
                </a:solidFill>
                <a:latin typeface="Aptos"/>
              </a:rPr>
              <a:t>E</a:t>
            </a:r>
          </a:p>
        </p:txBody>
      </p:sp>
      <p:sp>
        <p:nvSpPr>
          <p:cNvPr id="4" name="TextBox 3"/>
          <p:cNvSpPr txBox="1"/>
          <p:nvPr/>
        </p:nvSpPr>
        <p:spPr>
          <a:xfrm>
            <a:off x="1005840" y="411480"/>
            <a:ext cx="1097280" cy="219456"/>
          </a:xfrm>
          <a:prstGeom prst="rect">
            <a:avLst/>
          </a:prstGeom>
          <a:noFill/>
        </p:spPr>
        <p:txBody>
          <a:bodyPr wrap="none" lIns="0" rIns="0" tIns="0" bIns="0" anchor="t">
            <a:spAutoFit/>
          </a:bodyPr>
          <a:lstStyle/>
          <a:p>
            <a:pPr algn="l">
              <a:lnSpc>
                <a:spcPct val="100000"/>
              </a:lnSpc>
            </a:pPr>
            <a:r>
              <a:rPr sz="1100" b="1">
                <a:solidFill>
                  <a:srgbClr val="0B1020"/>
                </a:solidFill>
                <a:latin typeface="Aptos"/>
              </a:rPr>
              <a:t>EduMatch</a:t>
            </a:r>
          </a:p>
        </p:txBody>
      </p:sp>
      <p:sp>
        <p:nvSpPr>
          <p:cNvPr id="5" name="TextBox 4"/>
          <p:cNvSpPr txBox="1"/>
          <p:nvPr/>
        </p:nvSpPr>
        <p:spPr>
          <a:xfrm>
            <a:off x="685800" y="987552"/>
            <a:ext cx="3200400" cy="237744"/>
          </a:xfrm>
          <a:prstGeom prst="rect">
            <a:avLst/>
          </a:prstGeom>
          <a:noFill/>
        </p:spPr>
        <p:txBody>
          <a:bodyPr wrap="none" lIns="0" rIns="0" tIns="0" bIns="0" anchor="t">
            <a:spAutoFit/>
          </a:bodyPr>
          <a:lstStyle/>
          <a:p>
            <a:pPr algn="l">
              <a:lnSpc>
                <a:spcPct val="100000"/>
              </a:lnSpc>
            </a:pPr>
            <a:r>
              <a:rPr sz="900" b="1">
                <a:solidFill>
                  <a:srgbClr val="5239F4"/>
                </a:solidFill>
                <a:latin typeface="Aptos"/>
              </a:rPr>
              <a:t>THE PROBLEM</a:t>
            </a:r>
          </a:p>
        </p:txBody>
      </p:sp>
      <p:sp>
        <p:nvSpPr>
          <p:cNvPr id="6" name="TextBox 5"/>
          <p:cNvSpPr txBox="1"/>
          <p:nvPr/>
        </p:nvSpPr>
        <p:spPr>
          <a:xfrm>
            <a:off x="685800" y="1307592"/>
            <a:ext cx="10607040" cy="1097280"/>
          </a:xfrm>
          <a:prstGeom prst="rect">
            <a:avLst/>
          </a:prstGeom>
          <a:noFill/>
        </p:spPr>
        <p:txBody>
          <a:bodyPr wrap="none" lIns="0" rIns="0" tIns="0" bIns="0" anchor="t">
            <a:spAutoFit/>
          </a:bodyPr>
          <a:lstStyle/>
          <a:p>
            <a:pPr algn="l">
              <a:lnSpc>
                <a:spcPct val="100000"/>
              </a:lnSpc>
            </a:pPr>
            <a:r>
              <a:rPr sz="3400" b="1">
                <a:solidFill>
                  <a:srgbClr val="0B1020"/>
                </a:solidFill>
                <a:latin typeface="Aptos Display"/>
              </a:rPr>
              <a:t>Teachers do not have an information problem.</a:t>
            </a:r>
            <a:br/>
            <a:r>
              <a:t>They have a context problem.</a:t>
            </a:r>
          </a:p>
        </p:txBody>
      </p:sp>
      <p:sp>
        <p:nvSpPr>
          <p:cNvPr id="7" name="TextBox 6"/>
          <p:cNvSpPr txBox="1"/>
          <p:nvPr/>
        </p:nvSpPr>
        <p:spPr>
          <a:xfrm>
            <a:off x="713232" y="2395728"/>
            <a:ext cx="9509760" cy="502920"/>
          </a:xfrm>
          <a:prstGeom prst="rect">
            <a:avLst/>
          </a:prstGeom>
          <a:noFill/>
        </p:spPr>
        <p:txBody>
          <a:bodyPr wrap="none" lIns="0" rIns="0" tIns="0" bIns="0" anchor="t">
            <a:spAutoFit/>
          </a:bodyPr>
          <a:lstStyle/>
          <a:p>
            <a:pPr algn="l">
              <a:lnSpc>
                <a:spcPct val="100000"/>
              </a:lnSpc>
            </a:pPr>
            <a:r>
              <a:rPr sz="1600" b="0">
                <a:solidFill>
                  <a:srgbClr val="697386"/>
                </a:solidFill>
                <a:latin typeface="Aptos"/>
              </a:rPr>
              <a:t>The useful answer is usually inside another educator’s experience—but today’s tools strip away the details that make it transferable.</a:t>
            </a:r>
          </a:p>
        </p:txBody>
      </p:sp>
      <p:sp>
        <p:nvSpPr>
          <p:cNvPr id="8" name="Rounded Rectangle 7"/>
          <p:cNvSpPr/>
          <p:nvPr/>
        </p:nvSpPr>
        <p:spPr>
          <a:xfrm>
            <a:off x="685800" y="3154680"/>
            <a:ext cx="3456432" cy="2240280"/>
          </a:xfrm>
          <a:prstGeom prst="roundRect">
            <a:avLst/>
          </a:prstGeom>
          <a:solidFill>
            <a:srgbClr val="FFFFFF"/>
          </a:solidFill>
          <a:ln w="1270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32688" y="3401568"/>
            <a:ext cx="502920" cy="274320"/>
          </a:xfrm>
          <a:prstGeom prst="rect">
            <a:avLst/>
          </a:prstGeom>
          <a:noFill/>
        </p:spPr>
        <p:txBody>
          <a:bodyPr wrap="none" lIns="0" rIns="0" tIns="0" bIns="0" anchor="t">
            <a:spAutoFit/>
          </a:bodyPr>
          <a:lstStyle/>
          <a:p>
            <a:pPr algn="l">
              <a:lnSpc>
                <a:spcPct val="100000"/>
              </a:lnSpc>
            </a:pPr>
            <a:r>
              <a:rPr sz="1000" b="1">
                <a:solidFill>
                  <a:srgbClr val="5239F4"/>
                </a:solidFill>
                <a:latin typeface="Aptos"/>
              </a:rPr>
              <a:t>01</a:t>
            </a:r>
          </a:p>
        </p:txBody>
      </p:sp>
      <p:sp>
        <p:nvSpPr>
          <p:cNvPr id="10" name="TextBox 9"/>
          <p:cNvSpPr txBox="1"/>
          <p:nvPr/>
        </p:nvSpPr>
        <p:spPr>
          <a:xfrm>
            <a:off x="932688" y="3785615"/>
            <a:ext cx="2834640" cy="411480"/>
          </a:xfrm>
          <a:prstGeom prst="rect">
            <a:avLst/>
          </a:prstGeom>
          <a:noFill/>
        </p:spPr>
        <p:txBody>
          <a:bodyPr wrap="none" lIns="0" rIns="0" tIns="0" bIns="0" anchor="t">
            <a:spAutoFit/>
          </a:bodyPr>
          <a:lstStyle/>
          <a:p>
            <a:pPr algn="l">
              <a:lnSpc>
                <a:spcPct val="100000"/>
              </a:lnSpc>
            </a:pPr>
            <a:r>
              <a:rPr sz="2000" b="1">
                <a:solidFill>
                  <a:srgbClr val="0B1020"/>
                </a:solidFill>
                <a:latin typeface="Aptos"/>
              </a:rPr>
              <a:t>Generic directories</a:t>
            </a:r>
          </a:p>
        </p:txBody>
      </p:sp>
      <p:sp>
        <p:nvSpPr>
          <p:cNvPr id="11" name="TextBox 10"/>
          <p:cNvSpPr txBox="1"/>
          <p:nvPr/>
        </p:nvSpPr>
        <p:spPr>
          <a:xfrm>
            <a:off x="932688" y="4343400"/>
            <a:ext cx="2852928" cy="685800"/>
          </a:xfrm>
          <a:prstGeom prst="rect">
            <a:avLst/>
          </a:prstGeom>
          <a:noFill/>
        </p:spPr>
        <p:txBody>
          <a:bodyPr wrap="none" lIns="0" rIns="0" tIns="0" bIns="0" anchor="t">
            <a:spAutoFit/>
          </a:bodyPr>
          <a:lstStyle/>
          <a:p>
            <a:pPr algn="l">
              <a:lnSpc>
                <a:spcPct val="115000"/>
              </a:lnSpc>
            </a:pPr>
            <a:r>
              <a:rPr sz="1250" b="0">
                <a:solidFill>
                  <a:srgbClr val="697386"/>
                </a:solidFill>
                <a:latin typeface="Aptos"/>
              </a:rPr>
              <a:t>Same subject does not mean the same classroom, learners, constraints, or philosophy.</a:t>
            </a:r>
          </a:p>
        </p:txBody>
      </p:sp>
      <p:sp>
        <p:nvSpPr>
          <p:cNvPr id="12" name="Rounded Rectangle 11"/>
          <p:cNvSpPr/>
          <p:nvPr/>
        </p:nvSpPr>
        <p:spPr>
          <a:xfrm>
            <a:off x="4507992" y="3154680"/>
            <a:ext cx="3456432" cy="2240280"/>
          </a:xfrm>
          <a:prstGeom prst="roundRect">
            <a:avLst/>
          </a:prstGeom>
          <a:solidFill>
            <a:srgbClr val="FFFFFF"/>
          </a:solidFill>
          <a:ln w="1270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754879" y="3401568"/>
            <a:ext cx="502920" cy="274320"/>
          </a:xfrm>
          <a:prstGeom prst="rect">
            <a:avLst/>
          </a:prstGeom>
          <a:noFill/>
        </p:spPr>
        <p:txBody>
          <a:bodyPr wrap="none" lIns="0" rIns="0" tIns="0" bIns="0" anchor="t">
            <a:spAutoFit/>
          </a:bodyPr>
          <a:lstStyle/>
          <a:p>
            <a:pPr algn="l">
              <a:lnSpc>
                <a:spcPct val="100000"/>
              </a:lnSpc>
            </a:pPr>
            <a:r>
              <a:rPr sz="1000" b="1">
                <a:solidFill>
                  <a:srgbClr val="5CD6A8"/>
                </a:solidFill>
                <a:latin typeface="Aptos"/>
              </a:rPr>
              <a:t>02</a:t>
            </a:r>
          </a:p>
        </p:txBody>
      </p:sp>
      <p:sp>
        <p:nvSpPr>
          <p:cNvPr id="14" name="TextBox 13"/>
          <p:cNvSpPr txBox="1"/>
          <p:nvPr/>
        </p:nvSpPr>
        <p:spPr>
          <a:xfrm>
            <a:off x="4754879" y="3785615"/>
            <a:ext cx="2834640" cy="411480"/>
          </a:xfrm>
          <a:prstGeom prst="rect">
            <a:avLst/>
          </a:prstGeom>
          <a:noFill/>
        </p:spPr>
        <p:txBody>
          <a:bodyPr wrap="none" lIns="0" rIns="0" tIns="0" bIns="0" anchor="t">
            <a:spAutoFit/>
          </a:bodyPr>
          <a:lstStyle/>
          <a:p>
            <a:pPr algn="l">
              <a:lnSpc>
                <a:spcPct val="100000"/>
              </a:lnSpc>
            </a:pPr>
            <a:r>
              <a:rPr sz="2000" b="1">
                <a:solidFill>
                  <a:srgbClr val="0B1020"/>
                </a:solidFill>
                <a:latin typeface="Aptos"/>
              </a:rPr>
              <a:t>Knowledge stays isolated</a:t>
            </a:r>
          </a:p>
        </p:txBody>
      </p:sp>
      <p:sp>
        <p:nvSpPr>
          <p:cNvPr id="15" name="TextBox 14"/>
          <p:cNvSpPr txBox="1"/>
          <p:nvPr/>
        </p:nvSpPr>
        <p:spPr>
          <a:xfrm>
            <a:off x="4754879" y="4343400"/>
            <a:ext cx="2852928" cy="685800"/>
          </a:xfrm>
          <a:prstGeom prst="rect">
            <a:avLst/>
          </a:prstGeom>
          <a:noFill/>
        </p:spPr>
        <p:txBody>
          <a:bodyPr wrap="none" lIns="0" rIns="0" tIns="0" bIns="0" anchor="t">
            <a:spAutoFit/>
          </a:bodyPr>
          <a:lstStyle/>
          <a:p>
            <a:pPr algn="l">
              <a:lnSpc>
                <a:spcPct val="115000"/>
              </a:lnSpc>
            </a:pPr>
            <a:r>
              <a:rPr sz="1250" b="0">
                <a:solidFill>
                  <a:srgbClr val="697386"/>
                </a:solidFill>
                <a:latin typeface="Aptos"/>
              </a:rPr>
              <a:t>Lesson plans and hard-won teaching techniques rarely travel beyond one institution.</a:t>
            </a:r>
          </a:p>
        </p:txBody>
      </p:sp>
      <p:sp>
        <p:nvSpPr>
          <p:cNvPr id="16" name="Rounded Rectangle 15"/>
          <p:cNvSpPr/>
          <p:nvPr/>
        </p:nvSpPr>
        <p:spPr>
          <a:xfrm>
            <a:off x="8330183" y="3154680"/>
            <a:ext cx="3456432" cy="2240280"/>
          </a:xfrm>
          <a:prstGeom prst="roundRect">
            <a:avLst/>
          </a:prstGeom>
          <a:solidFill>
            <a:srgbClr val="FFFFFF"/>
          </a:solidFill>
          <a:ln w="1270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577072" y="3401568"/>
            <a:ext cx="502920" cy="274320"/>
          </a:xfrm>
          <a:prstGeom prst="rect">
            <a:avLst/>
          </a:prstGeom>
          <a:noFill/>
        </p:spPr>
        <p:txBody>
          <a:bodyPr wrap="none" lIns="0" rIns="0" tIns="0" bIns="0" anchor="t">
            <a:spAutoFit/>
          </a:bodyPr>
          <a:lstStyle/>
          <a:p>
            <a:pPr algn="l">
              <a:lnSpc>
                <a:spcPct val="100000"/>
              </a:lnSpc>
            </a:pPr>
            <a:r>
              <a:rPr sz="1000" b="1">
                <a:solidFill>
                  <a:srgbClr val="FF93C4"/>
                </a:solidFill>
                <a:latin typeface="Aptos"/>
              </a:rPr>
              <a:t>03</a:t>
            </a:r>
          </a:p>
        </p:txBody>
      </p:sp>
      <p:sp>
        <p:nvSpPr>
          <p:cNvPr id="18" name="TextBox 17"/>
          <p:cNvSpPr txBox="1"/>
          <p:nvPr/>
        </p:nvSpPr>
        <p:spPr>
          <a:xfrm>
            <a:off x="8577072" y="3785615"/>
            <a:ext cx="2834640" cy="411480"/>
          </a:xfrm>
          <a:prstGeom prst="rect">
            <a:avLst/>
          </a:prstGeom>
          <a:noFill/>
        </p:spPr>
        <p:txBody>
          <a:bodyPr wrap="none" lIns="0" rIns="0" tIns="0" bIns="0" anchor="t">
            <a:spAutoFit/>
          </a:bodyPr>
          <a:lstStyle/>
          <a:p>
            <a:pPr algn="l">
              <a:lnSpc>
                <a:spcPct val="100000"/>
              </a:lnSpc>
            </a:pPr>
            <a:r>
              <a:rPr sz="2000" b="1">
                <a:solidFill>
                  <a:srgbClr val="0B1020"/>
                </a:solidFill>
                <a:latin typeface="Aptos"/>
              </a:rPr>
              <a:t>AI loses provenance</a:t>
            </a:r>
          </a:p>
        </p:txBody>
      </p:sp>
      <p:sp>
        <p:nvSpPr>
          <p:cNvPr id="19" name="TextBox 18"/>
          <p:cNvSpPr txBox="1"/>
          <p:nvPr/>
        </p:nvSpPr>
        <p:spPr>
          <a:xfrm>
            <a:off x="8577072" y="4343400"/>
            <a:ext cx="2852928" cy="685800"/>
          </a:xfrm>
          <a:prstGeom prst="rect">
            <a:avLst/>
          </a:prstGeom>
          <a:noFill/>
        </p:spPr>
        <p:txBody>
          <a:bodyPr wrap="none" lIns="0" rIns="0" tIns="0" bIns="0" anchor="t">
            <a:spAutoFit/>
          </a:bodyPr>
          <a:lstStyle/>
          <a:p>
            <a:pPr algn="l">
              <a:lnSpc>
                <a:spcPct val="115000"/>
              </a:lnSpc>
            </a:pPr>
            <a:r>
              <a:rPr sz="1250" b="0">
                <a:solidFill>
                  <a:srgbClr val="697386"/>
                </a:solidFill>
                <a:latin typeface="Aptos"/>
              </a:rPr>
              <a:t>Generic answers sound confident even when they are detached from educator evidence.</a:t>
            </a:r>
          </a:p>
        </p:txBody>
      </p:sp>
      <p:sp>
        <p:nvSpPr>
          <p:cNvPr id="20" name="Rounded Rectangle 19"/>
          <p:cNvSpPr/>
          <p:nvPr/>
        </p:nvSpPr>
        <p:spPr>
          <a:xfrm>
            <a:off x="685800" y="5687568"/>
            <a:ext cx="10835640" cy="502920"/>
          </a:xfrm>
          <a:prstGeom prst="roundRect">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60120" y="5833872"/>
            <a:ext cx="10241280" cy="228600"/>
          </a:xfrm>
          <a:prstGeom prst="rect">
            <a:avLst/>
          </a:prstGeom>
          <a:noFill/>
        </p:spPr>
        <p:txBody>
          <a:bodyPr wrap="none" lIns="0" rIns="0" tIns="0" bIns="0" anchor="t">
            <a:spAutoFit/>
          </a:bodyPr>
          <a:lstStyle/>
          <a:p>
            <a:pPr algn="ctr">
              <a:lnSpc>
                <a:spcPct val="100000"/>
              </a:lnSpc>
            </a:pPr>
            <a:r>
              <a:rPr sz="1400" b="1">
                <a:solidFill>
                  <a:srgbClr val="FFFFFF"/>
                </a:solidFill>
                <a:latin typeface="Aptos"/>
              </a:rPr>
              <a:t>The missing layer: how this educator teaches this class, for these learners, under these constraints.</a:t>
            </a:r>
          </a:p>
        </p:txBody>
      </p:sp>
      <p:sp>
        <p:nvSpPr>
          <p:cNvPr id="22" name="TextBox 21"/>
          <p:cNvSpPr txBox="1"/>
          <p:nvPr/>
        </p:nvSpPr>
        <p:spPr>
          <a:xfrm>
            <a:off x="640080" y="6510528"/>
            <a:ext cx="2743200" cy="164592"/>
          </a:xfrm>
          <a:prstGeom prst="rect">
            <a:avLst/>
          </a:prstGeom>
          <a:noFill/>
        </p:spPr>
        <p:txBody>
          <a:bodyPr wrap="none" lIns="0" rIns="0" tIns="0" bIns="0" anchor="t">
            <a:spAutoFit/>
          </a:bodyPr>
          <a:lstStyle/>
          <a:p>
            <a:pPr algn="l">
              <a:lnSpc>
                <a:spcPct val="100000"/>
              </a:lnSpc>
            </a:pPr>
            <a:r>
              <a:rPr sz="750" b="1">
                <a:solidFill>
                  <a:srgbClr val="8A93A5"/>
                </a:solidFill>
                <a:latin typeface="Aptos"/>
              </a:rPr>
              <a:t>EDUMATCH · HACKMIT 2026</a:t>
            </a:r>
          </a:p>
        </p:txBody>
      </p:sp>
      <p:sp>
        <p:nvSpPr>
          <p:cNvPr id="23" name="TextBox 22"/>
          <p:cNvSpPr txBox="1"/>
          <p:nvPr/>
        </p:nvSpPr>
        <p:spPr>
          <a:xfrm>
            <a:off x="11018520" y="6473952"/>
            <a:ext cx="502920" cy="201168"/>
          </a:xfrm>
          <a:prstGeom prst="rect">
            <a:avLst/>
          </a:prstGeom>
          <a:noFill/>
        </p:spPr>
        <p:txBody>
          <a:bodyPr wrap="none" lIns="0" rIns="0" tIns="0" bIns="0" anchor="t">
            <a:spAutoFit/>
          </a:bodyPr>
          <a:lstStyle/>
          <a:p>
            <a:pPr algn="r">
              <a:lnSpc>
                <a:spcPct val="100000"/>
              </a:lnSpc>
            </a:pPr>
            <a:r>
              <a:rPr sz="800" b="1">
                <a:solidFill>
                  <a:srgbClr val="8A93A5"/>
                </a:solidFill>
                <a:latin typeface="Aptos"/>
              </a:rP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Oval 1"/>
          <p:cNvSpPr/>
          <p:nvPr/>
        </p:nvSpPr>
        <p:spPr>
          <a:xfrm>
            <a:off x="621792" y="384048"/>
            <a:ext cx="292608" cy="292608"/>
          </a:xfrm>
          <a:prstGeom prst="ellipse">
            <a:avLst/>
          </a:prstGeom>
          <a:solidFill>
            <a:srgbClr val="D9FF63"/>
          </a:solidFill>
          <a:ln w="12700">
            <a:solidFill>
              <a:srgbClr val="D9FF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16052"/>
            <a:ext cx="292608" cy="182880"/>
          </a:xfrm>
          <a:prstGeom prst="rect">
            <a:avLst/>
          </a:prstGeom>
          <a:noFill/>
        </p:spPr>
        <p:txBody>
          <a:bodyPr wrap="none" lIns="0" rIns="0" tIns="0" bIns="0" anchor="t">
            <a:spAutoFit/>
          </a:bodyPr>
          <a:lstStyle/>
          <a:p>
            <a:pPr algn="ctr">
              <a:lnSpc>
                <a:spcPct val="100000"/>
              </a:lnSpc>
            </a:pPr>
            <a:r>
              <a:rPr sz="900" b="1">
                <a:solidFill>
                  <a:srgbClr val="0B1020"/>
                </a:solidFill>
                <a:latin typeface="Aptos"/>
              </a:rPr>
              <a:t>E</a:t>
            </a:r>
          </a:p>
        </p:txBody>
      </p:sp>
      <p:sp>
        <p:nvSpPr>
          <p:cNvPr id="4" name="TextBox 3"/>
          <p:cNvSpPr txBox="1"/>
          <p:nvPr/>
        </p:nvSpPr>
        <p:spPr>
          <a:xfrm>
            <a:off x="1005840" y="411480"/>
            <a:ext cx="1097280" cy="219456"/>
          </a:xfrm>
          <a:prstGeom prst="rect">
            <a:avLst/>
          </a:prstGeom>
          <a:noFill/>
        </p:spPr>
        <p:txBody>
          <a:bodyPr wrap="none" lIns="0" rIns="0" tIns="0" bIns="0" anchor="t">
            <a:spAutoFit/>
          </a:bodyPr>
          <a:lstStyle/>
          <a:p>
            <a:pPr algn="l">
              <a:lnSpc>
                <a:spcPct val="100000"/>
              </a:lnSpc>
            </a:pPr>
            <a:r>
              <a:rPr sz="1100" b="1">
                <a:solidFill>
                  <a:srgbClr val="FFFFFF"/>
                </a:solidFill>
                <a:latin typeface="Aptos"/>
              </a:rPr>
              <a:t>EduMatch</a:t>
            </a:r>
          </a:p>
        </p:txBody>
      </p:sp>
      <p:sp>
        <p:nvSpPr>
          <p:cNvPr id="5" name="TextBox 4"/>
          <p:cNvSpPr txBox="1"/>
          <p:nvPr/>
        </p:nvSpPr>
        <p:spPr>
          <a:xfrm>
            <a:off x="685800" y="950976"/>
            <a:ext cx="3200400" cy="237744"/>
          </a:xfrm>
          <a:prstGeom prst="rect">
            <a:avLst/>
          </a:prstGeom>
          <a:noFill/>
        </p:spPr>
        <p:txBody>
          <a:bodyPr wrap="none" lIns="0" rIns="0" tIns="0" bIns="0" anchor="t">
            <a:spAutoFit/>
          </a:bodyPr>
          <a:lstStyle/>
          <a:p>
            <a:pPr algn="l">
              <a:lnSpc>
                <a:spcPct val="100000"/>
              </a:lnSpc>
            </a:pPr>
            <a:r>
              <a:rPr sz="900" b="1">
                <a:solidFill>
                  <a:srgbClr val="D9FF63"/>
                </a:solidFill>
                <a:latin typeface="Aptos"/>
              </a:rPr>
              <a:t>THE EDUMATCH CONTEXT ENGINE</a:t>
            </a:r>
          </a:p>
        </p:txBody>
      </p:sp>
      <p:sp>
        <p:nvSpPr>
          <p:cNvPr id="6" name="TextBox 5"/>
          <p:cNvSpPr txBox="1"/>
          <p:nvPr/>
        </p:nvSpPr>
        <p:spPr>
          <a:xfrm>
            <a:off x="685800" y="1280160"/>
            <a:ext cx="10698480" cy="658368"/>
          </a:xfrm>
          <a:prstGeom prst="rect">
            <a:avLst/>
          </a:prstGeom>
          <a:noFill/>
        </p:spPr>
        <p:txBody>
          <a:bodyPr wrap="none" lIns="0" rIns="0" tIns="0" bIns="0" anchor="t">
            <a:spAutoFit/>
          </a:bodyPr>
          <a:lstStyle/>
          <a:p>
            <a:pPr algn="l">
              <a:lnSpc>
                <a:spcPct val="100000"/>
              </a:lnSpc>
            </a:pPr>
            <a:r>
              <a:rPr sz="3200" b="1">
                <a:solidFill>
                  <a:srgbClr val="FFFFFF"/>
                </a:solidFill>
                <a:latin typeface="Aptos Display"/>
              </a:rPr>
              <a:t>One teaching profile powers an entire support system.</a:t>
            </a:r>
          </a:p>
        </p:txBody>
      </p:sp>
      <p:sp>
        <p:nvSpPr>
          <p:cNvPr id="7" name="TextBox 6"/>
          <p:cNvSpPr txBox="1"/>
          <p:nvPr/>
        </p:nvSpPr>
        <p:spPr>
          <a:xfrm>
            <a:off x="713232" y="1956816"/>
            <a:ext cx="6583680" cy="329184"/>
          </a:xfrm>
          <a:prstGeom prst="rect">
            <a:avLst/>
          </a:prstGeom>
          <a:noFill/>
        </p:spPr>
        <p:txBody>
          <a:bodyPr wrap="none" lIns="0" rIns="0" tIns="0" bIns="0" anchor="t">
            <a:spAutoFit/>
          </a:bodyPr>
          <a:lstStyle/>
          <a:p>
            <a:pPr algn="l">
              <a:lnSpc>
                <a:spcPct val="100000"/>
              </a:lnSpc>
            </a:pPr>
            <a:r>
              <a:rPr sz="1500" b="0">
                <a:solidFill>
                  <a:srgbClr val="A9B1C2"/>
                </a:solidFill>
                <a:latin typeface="Aptos"/>
              </a:rPr>
              <a:t>Describe the classroom once. Use that meaning everywhere.</a:t>
            </a:r>
          </a:p>
        </p:txBody>
      </p:sp>
      <p:cxnSp>
        <p:nvCxnSpPr>
          <p:cNvPr id="8" name="Connector 7"/>
          <p:cNvCxnSpPr/>
          <p:nvPr/>
        </p:nvCxnSpPr>
        <p:spPr>
          <a:xfrm>
            <a:off x="3657600" y="3246120"/>
            <a:ext cx="1417320" cy="0"/>
          </a:xfrm>
          <a:prstGeom prst="line">
            <a:avLst/>
          </a:prstGeom>
          <a:ln w="15240">
            <a:solidFill>
              <a:srgbClr val="4C5670"/>
            </a:solidFill>
            <a:prstDash val="sys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086600" y="3246120"/>
            <a:ext cx="1371600" cy="0"/>
          </a:xfrm>
          <a:prstGeom prst="line">
            <a:avLst/>
          </a:prstGeom>
          <a:ln w="15240">
            <a:solidFill>
              <a:srgbClr val="4C5670"/>
            </a:solidFill>
            <a:prstDash val="sys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6089904" y="4251960"/>
            <a:ext cx="0" cy="731520"/>
          </a:xfrm>
          <a:prstGeom prst="line">
            <a:avLst/>
          </a:prstGeom>
          <a:ln w="15240">
            <a:solidFill>
              <a:srgbClr val="4C5670"/>
            </a:solidFill>
            <a:prstDash val="sys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flipV="1">
            <a:off x="6089904" y="2331720"/>
            <a:ext cx="0" cy="411480"/>
          </a:xfrm>
          <a:prstGeom prst="line">
            <a:avLst/>
          </a:prstGeom>
          <a:ln w="15240">
            <a:solidFill>
              <a:srgbClr val="4C5670"/>
            </a:solidFill>
            <a:prstDash val="sys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791456" y="2487168"/>
            <a:ext cx="2606040" cy="1645920"/>
          </a:xfrm>
          <a:prstGeom prst="roundRect">
            <a:avLst/>
          </a:prstGeom>
          <a:solidFill>
            <a:srgbClr val="5239F4"/>
          </a:solidFill>
          <a:ln w="12700">
            <a:solidFill>
              <a:srgbClr val="5239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074920" y="2852928"/>
            <a:ext cx="2011680" cy="640080"/>
          </a:xfrm>
          <a:prstGeom prst="rect">
            <a:avLst/>
          </a:prstGeom>
          <a:noFill/>
        </p:spPr>
        <p:txBody>
          <a:bodyPr wrap="none" lIns="0" rIns="0" tIns="0" bIns="0" anchor="t">
            <a:spAutoFit/>
          </a:bodyPr>
          <a:lstStyle/>
          <a:p>
            <a:pPr algn="ctr">
              <a:lnSpc>
                <a:spcPct val="100000"/>
              </a:lnSpc>
            </a:pPr>
            <a:r>
              <a:rPr sz="2000" b="1">
                <a:solidFill>
                  <a:srgbClr val="FFFFFF"/>
                </a:solidFill>
                <a:latin typeface="Aptos"/>
              </a:rPr>
              <a:t>TEACHING</a:t>
            </a:r>
            <a:br/>
            <a:r>
              <a:t>CONTEXT</a:t>
            </a:r>
          </a:p>
        </p:txBody>
      </p:sp>
      <p:sp>
        <p:nvSpPr>
          <p:cNvPr id="14" name="TextBox 13"/>
          <p:cNvSpPr txBox="1"/>
          <p:nvPr/>
        </p:nvSpPr>
        <p:spPr>
          <a:xfrm>
            <a:off x="4992624" y="3703320"/>
            <a:ext cx="2212848" cy="182880"/>
          </a:xfrm>
          <a:prstGeom prst="rect">
            <a:avLst/>
          </a:prstGeom>
          <a:noFill/>
        </p:spPr>
        <p:txBody>
          <a:bodyPr wrap="none" lIns="0" rIns="0" tIns="0" bIns="0" anchor="t">
            <a:spAutoFit/>
          </a:bodyPr>
          <a:lstStyle/>
          <a:p>
            <a:pPr algn="ctr">
              <a:lnSpc>
                <a:spcPct val="100000"/>
              </a:lnSpc>
            </a:pPr>
            <a:r>
              <a:rPr sz="800" b="0">
                <a:solidFill>
                  <a:srgbClr val="D7D2FF"/>
                </a:solidFill>
                <a:latin typeface="Aptos"/>
              </a:rPr>
              <a:t>philosophy · class · constraints</a:t>
            </a:r>
          </a:p>
        </p:txBody>
      </p:sp>
      <p:sp>
        <p:nvSpPr>
          <p:cNvPr id="15" name="Rounded Rectangle 14"/>
          <p:cNvSpPr/>
          <p:nvPr/>
        </p:nvSpPr>
        <p:spPr>
          <a:xfrm>
            <a:off x="685800" y="2587752"/>
            <a:ext cx="3017520" cy="1234440"/>
          </a:xfrm>
          <a:prstGeom prst="roundRect">
            <a:avLst/>
          </a:prstGeom>
          <a:solidFill>
            <a:srgbClr val="151B2D"/>
          </a:solidFill>
          <a:ln w="12700">
            <a:solidFill>
              <a:srgbClr val="333C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886968" y="2807208"/>
            <a:ext cx="320040" cy="320040"/>
          </a:xfrm>
          <a:prstGeom prst="ellipse">
            <a:avLst/>
          </a:prstGeom>
          <a:solidFill>
            <a:srgbClr val="5CD6A8"/>
          </a:solidFill>
          <a:ln w="12700">
            <a:solidFill>
              <a:srgbClr val="5CD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86968" y="2880360"/>
            <a:ext cx="320040" cy="137160"/>
          </a:xfrm>
          <a:prstGeom prst="rect">
            <a:avLst/>
          </a:prstGeom>
          <a:noFill/>
        </p:spPr>
        <p:txBody>
          <a:bodyPr wrap="none" lIns="0" rIns="0" tIns="0" bIns="0" anchor="t">
            <a:spAutoFit/>
          </a:bodyPr>
          <a:lstStyle/>
          <a:p>
            <a:pPr algn="ctr">
              <a:lnSpc>
                <a:spcPct val="100000"/>
              </a:lnSpc>
            </a:pPr>
            <a:r>
              <a:rPr sz="800" b="1">
                <a:solidFill>
                  <a:srgbClr val="0B1020"/>
                </a:solidFill>
                <a:latin typeface="Aptos"/>
              </a:rPr>
              <a:t>01</a:t>
            </a:r>
          </a:p>
        </p:txBody>
      </p:sp>
      <p:sp>
        <p:nvSpPr>
          <p:cNvPr id="18" name="TextBox 17"/>
          <p:cNvSpPr txBox="1"/>
          <p:nvPr/>
        </p:nvSpPr>
        <p:spPr>
          <a:xfrm>
            <a:off x="1362456" y="2798064"/>
            <a:ext cx="2011680" cy="274320"/>
          </a:xfrm>
          <a:prstGeom prst="rect">
            <a:avLst/>
          </a:prstGeom>
          <a:noFill/>
        </p:spPr>
        <p:txBody>
          <a:bodyPr wrap="none" lIns="0" rIns="0" tIns="0" bIns="0" anchor="t">
            <a:spAutoFit/>
          </a:bodyPr>
          <a:lstStyle/>
          <a:p>
            <a:pPr algn="l">
              <a:lnSpc>
                <a:spcPct val="100000"/>
              </a:lnSpc>
            </a:pPr>
            <a:r>
              <a:rPr sz="1600" b="1">
                <a:solidFill>
                  <a:srgbClr val="FFFFFF"/>
                </a:solidFill>
                <a:latin typeface="Aptos"/>
              </a:rPr>
              <a:t>People</a:t>
            </a:r>
          </a:p>
        </p:txBody>
      </p:sp>
      <p:sp>
        <p:nvSpPr>
          <p:cNvPr id="19" name="TextBox 18"/>
          <p:cNvSpPr txBox="1"/>
          <p:nvPr/>
        </p:nvSpPr>
        <p:spPr>
          <a:xfrm>
            <a:off x="1362456" y="3163824"/>
            <a:ext cx="2057400" cy="502920"/>
          </a:xfrm>
          <a:prstGeom prst="rect">
            <a:avLst/>
          </a:prstGeom>
          <a:noFill/>
        </p:spPr>
        <p:txBody>
          <a:bodyPr wrap="none" lIns="0" rIns="0" tIns="0" bIns="0" anchor="t">
            <a:spAutoFit/>
          </a:bodyPr>
          <a:lstStyle/>
          <a:p>
            <a:pPr algn="l">
              <a:lnSpc>
                <a:spcPct val="110000"/>
              </a:lnSpc>
            </a:pPr>
            <a:r>
              <a:rPr sz="1050" b="0">
                <a:solidFill>
                  <a:srgbClr val="A9B1C2"/>
                </a:solidFill>
                <a:latin typeface="Aptos"/>
              </a:rPr>
              <a:t>Semantic educator matches</a:t>
            </a:r>
            <a:br/>
            <a:r>
              <a:t>with six visible factors</a:t>
            </a:r>
          </a:p>
        </p:txBody>
      </p:sp>
      <p:sp>
        <p:nvSpPr>
          <p:cNvPr id="20" name="Rounded Rectangle 19"/>
          <p:cNvSpPr/>
          <p:nvPr/>
        </p:nvSpPr>
        <p:spPr>
          <a:xfrm>
            <a:off x="8458200" y="2587752"/>
            <a:ext cx="3017520" cy="1234440"/>
          </a:xfrm>
          <a:prstGeom prst="roundRect">
            <a:avLst/>
          </a:prstGeom>
          <a:solidFill>
            <a:srgbClr val="151B2D"/>
          </a:solidFill>
          <a:ln w="12700">
            <a:solidFill>
              <a:srgbClr val="333C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Oval 20"/>
          <p:cNvSpPr/>
          <p:nvPr/>
        </p:nvSpPr>
        <p:spPr>
          <a:xfrm>
            <a:off x="8659368" y="2807208"/>
            <a:ext cx="320040" cy="320040"/>
          </a:xfrm>
          <a:prstGeom prst="ellipse">
            <a:avLst/>
          </a:prstGeom>
          <a:solidFill>
            <a:srgbClr val="70B7FF"/>
          </a:solidFill>
          <a:ln w="12700">
            <a:solidFill>
              <a:srgbClr val="70B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659368" y="2880360"/>
            <a:ext cx="320040" cy="137160"/>
          </a:xfrm>
          <a:prstGeom prst="rect">
            <a:avLst/>
          </a:prstGeom>
          <a:noFill/>
        </p:spPr>
        <p:txBody>
          <a:bodyPr wrap="none" lIns="0" rIns="0" tIns="0" bIns="0" anchor="t">
            <a:spAutoFit/>
          </a:bodyPr>
          <a:lstStyle/>
          <a:p>
            <a:pPr algn="ctr">
              <a:lnSpc>
                <a:spcPct val="100000"/>
              </a:lnSpc>
            </a:pPr>
            <a:r>
              <a:rPr sz="800" b="1">
                <a:solidFill>
                  <a:srgbClr val="0B1020"/>
                </a:solidFill>
                <a:latin typeface="Aptos"/>
              </a:rPr>
              <a:t>02</a:t>
            </a:r>
          </a:p>
        </p:txBody>
      </p:sp>
      <p:sp>
        <p:nvSpPr>
          <p:cNvPr id="23" name="TextBox 22"/>
          <p:cNvSpPr txBox="1"/>
          <p:nvPr/>
        </p:nvSpPr>
        <p:spPr>
          <a:xfrm>
            <a:off x="9134856" y="2798064"/>
            <a:ext cx="2011680" cy="274320"/>
          </a:xfrm>
          <a:prstGeom prst="rect">
            <a:avLst/>
          </a:prstGeom>
          <a:noFill/>
        </p:spPr>
        <p:txBody>
          <a:bodyPr wrap="none" lIns="0" rIns="0" tIns="0" bIns="0" anchor="t">
            <a:spAutoFit/>
          </a:bodyPr>
          <a:lstStyle/>
          <a:p>
            <a:pPr algn="l">
              <a:lnSpc>
                <a:spcPct val="100000"/>
              </a:lnSpc>
            </a:pPr>
            <a:r>
              <a:rPr sz="1600" b="1">
                <a:solidFill>
                  <a:srgbClr val="FFFFFF"/>
                </a:solidFill>
                <a:latin typeface="Aptos"/>
              </a:rPr>
              <a:t>Resources</a:t>
            </a:r>
          </a:p>
        </p:txBody>
      </p:sp>
      <p:sp>
        <p:nvSpPr>
          <p:cNvPr id="24" name="TextBox 23"/>
          <p:cNvSpPr txBox="1"/>
          <p:nvPr/>
        </p:nvSpPr>
        <p:spPr>
          <a:xfrm>
            <a:off x="9134856" y="3163824"/>
            <a:ext cx="2057400" cy="502920"/>
          </a:xfrm>
          <a:prstGeom prst="rect">
            <a:avLst/>
          </a:prstGeom>
          <a:noFill/>
        </p:spPr>
        <p:txBody>
          <a:bodyPr wrap="none" lIns="0" rIns="0" tIns="0" bIns="0" anchor="t">
            <a:spAutoFit/>
          </a:bodyPr>
          <a:lstStyle/>
          <a:p>
            <a:pPr algn="l">
              <a:lnSpc>
                <a:spcPct val="110000"/>
              </a:lnSpc>
            </a:pPr>
            <a:r>
              <a:rPr sz="1050" b="0">
                <a:solidFill>
                  <a:srgbClr val="A9B1C2"/>
                </a:solidFill>
                <a:latin typeface="Aptos"/>
              </a:rPr>
              <a:t>Materials ranked for subject,</a:t>
            </a:r>
            <a:br/>
            <a:r>
              <a:t>level, and teaching style</a:t>
            </a:r>
          </a:p>
        </p:txBody>
      </p:sp>
      <p:sp>
        <p:nvSpPr>
          <p:cNvPr id="25" name="Rounded Rectangle 24"/>
          <p:cNvSpPr/>
          <p:nvPr/>
        </p:nvSpPr>
        <p:spPr>
          <a:xfrm>
            <a:off x="685800" y="4572000"/>
            <a:ext cx="3017520" cy="1234440"/>
          </a:xfrm>
          <a:prstGeom prst="roundRect">
            <a:avLst/>
          </a:prstGeom>
          <a:solidFill>
            <a:srgbClr val="151B2D"/>
          </a:solidFill>
          <a:ln w="12700">
            <a:solidFill>
              <a:srgbClr val="333C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Oval 25"/>
          <p:cNvSpPr/>
          <p:nvPr/>
        </p:nvSpPr>
        <p:spPr>
          <a:xfrm>
            <a:off x="886968" y="4791456"/>
            <a:ext cx="320040" cy="320040"/>
          </a:xfrm>
          <a:prstGeom prst="ellipse">
            <a:avLst/>
          </a:prstGeom>
          <a:solidFill>
            <a:srgbClr val="FFBE5C"/>
          </a:solidFill>
          <a:ln w="12700">
            <a:solidFill>
              <a:srgbClr val="FFB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86968" y="4864608"/>
            <a:ext cx="320040" cy="137160"/>
          </a:xfrm>
          <a:prstGeom prst="rect">
            <a:avLst/>
          </a:prstGeom>
          <a:noFill/>
        </p:spPr>
        <p:txBody>
          <a:bodyPr wrap="none" lIns="0" rIns="0" tIns="0" bIns="0" anchor="t">
            <a:spAutoFit/>
          </a:bodyPr>
          <a:lstStyle/>
          <a:p>
            <a:pPr algn="ctr">
              <a:lnSpc>
                <a:spcPct val="100000"/>
              </a:lnSpc>
            </a:pPr>
            <a:r>
              <a:rPr sz="800" b="1">
                <a:solidFill>
                  <a:srgbClr val="0B1020"/>
                </a:solidFill>
                <a:latin typeface="Aptos"/>
              </a:rPr>
              <a:t>03</a:t>
            </a:r>
          </a:p>
        </p:txBody>
      </p:sp>
      <p:sp>
        <p:nvSpPr>
          <p:cNvPr id="28" name="TextBox 27"/>
          <p:cNvSpPr txBox="1"/>
          <p:nvPr/>
        </p:nvSpPr>
        <p:spPr>
          <a:xfrm>
            <a:off x="1362456" y="4782312"/>
            <a:ext cx="2011680" cy="274320"/>
          </a:xfrm>
          <a:prstGeom prst="rect">
            <a:avLst/>
          </a:prstGeom>
          <a:noFill/>
        </p:spPr>
        <p:txBody>
          <a:bodyPr wrap="none" lIns="0" rIns="0" tIns="0" bIns="0" anchor="t">
            <a:spAutoFit/>
          </a:bodyPr>
          <a:lstStyle/>
          <a:p>
            <a:pPr algn="l">
              <a:lnSpc>
                <a:spcPct val="100000"/>
              </a:lnSpc>
            </a:pPr>
            <a:r>
              <a:rPr sz="1600" b="1">
                <a:solidFill>
                  <a:srgbClr val="FFFFFF"/>
                </a:solidFill>
                <a:latin typeface="Aptos"/>
              </a:rPr>
              <a:t>Techniques</a:t>
            </a:r>
          </a:p>
        </p:txBody>
      </p:sp>
      <p:sp>
        <p:nvSpPr>
          <p:cNvPr id="29" name="TextBox 28"/>
          <p:cNvSpPr txBox="1"/>
          <p:nvPr/>
        </p:nvSpPr>
        <p:spPr>
          <a:xfrm>
            <a:off x="1362456" y="5148072"/>
            <a:ext cx="2057400" cy="502920"/>
          </a:xfrm>
          <a:prstGeom prst="rect">
            <a:avLst/>
          </a:prstGeom>
          <a:noFill/>
        </p:spPr>
        <p:txBody>
          <a:bodyPr wrap="none" lIns="0" rIns="0" tIns="0" bIns="0" anchor="t">
            <a:spAutoFit/>
          </a:bodyPr>
          <a:lstStyle/>
          <a:p>
            <a:pPr algn="l">
              <a:lnSpc>
                <a:spcPct val="110000"/>
              </a:lnSpc>
            </a:pPr>
            <a:r>
              <a:rPr sz="1050" b="0">
                <a:solidFill>
                  <a:srgbClr val="A9B1C2"/>
                </a:solidFill>
                <a:latin typeface="Aptos"/>
              </a:rPr>
              <a:t>Peer-rated methods and</a:t>
            </a:r>
            <a:br/>
            <a:r>
              <a:t>common classroom pitfalls</a:t>
            </a:r>
          </a:p>
        </p:txBody>
      </p:sp>
      <p:sp>
        <p:nvSpPr>
          <p:cNvPr id="30" name="Rounded Rectangle 29"/>
          <p:cNvSpPr/>
          <p:nvPr/>
        </p:nvSpPr>
        <p:spPr>
          <a:xfrm>
            <a:off x="8458200" y="4572000"/>
            <a:ext cx="3017520" cy="1234440"/>
          </a:xfrm>
          <a:prstGeom prst="roundRect">
            <a:avLst/>
          </a:prstGeom>
          <a:solidFill>
            <a:srgbClr val="151B2D"/>
          </a:solidFill>
          <a:ln w="12700">
            <a:solidFill>
              <a:srgbClr val="333C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Oval 30"/>
          <p:cNvSpPr/>
          <p:nvPr/>
        </p:nvSpPr>
        <p:spPr>
          <a:xfrm>
            <a:off x="8659368" y="4791456"/>
            <a:ext cx="320040" cy="320040"/>
          </a:xfrm>
          <a:prstGeom prst="ellipse">
            <a:avLst/>
          </a:prstGeom>
          <a:solidFill>
            <a:srgbClr val="FF93C4"/>
          </a:solidFill>
          <a:ln w="12700">
            <a:solidFill>
              <a:srgbClr val="FF93C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659368" y="4864608"/>
            <a:ext cx="320040" cy="137160"/>
          </a:xfrm>
          <a:prstGeom prst="rect">
            <a:avLst/>
          </a:prstGeom>
          <a:noFill/>
        </p:spPr>
        <p:txBody>
          <a:bodyPr wrap="none" lIns="0" rIns="0" tIns="0" bIns="0" anchor="t">
            <a:spAutoFit/>
          </a:bodyPr>
          <a:lstStyle/>
          <a:p>
            <a:pPr algn="ctr">
              <a:lnSpc>
                <a:spcPct val="100000"/>
              </a:lnSpc>
            </a:pPr>
            <a:r>
              <a:rPr sz="800" b="1">
                <a:solidFill>
                  <a:srgbClr val="0B1020"/>
                </a:solidFill>
                <a:latin typeface="Aptos"/>
              </a:rPr>
              <a:t>04</a:t>
            </a:r>
          </a:p>
        </p:txBody>
      </p:sp>
      <p:sp>
        <p:nvSpPr>
          <p:cNvPr id="33" name="TextBox 32"/>
          <p:cNvSpPr txBox="1"/>
          <p:nvPr/>
        </p:nvSpPr>
        <p:spPr>
          <a:xfrm>
            <a:off x="9134856" y="4782312"/>
            <a:ext cx="2011680" cy="274320"/>
          </a:xfrm>
          <a:prstGeom prst="rect">
            <a:avLst/>
          </a:prstGeom>
          <a:noFill/>
        </p:spPr>
        <p:txBody>
          <a:bodyPr wrap="none" lIns="0" rIns="0" tIns="0" bIns="0" anchor="t">
            <a:spAutoFit/>
          </a:bodyPr>
          <a:lstStyle/>
          <a:p>
            <a:pPr algn="l">
              <a:lnSpc>
                <a:spcPct val="100000"/>
              </a:lnSpc>
            </a:pPr>
            <a:r>
              <a:rPr sz="1600" b="1">
                <a:solidFill>
                  <a:srgbClr val="FFFFFF"/>
                </a:solidFill>
                <a:latin typeface="Aptos"/>
              </a:rPr>
              <a:t>Grounded mentors</a:t>
            </a:r>
          </a:p>
        </p:txBody>
      </p:sp>
      <p:sp>
        <p:nvSpPr>
          <p:cNvPr id="34" name="TextBox 33"/>
          <p:cNvSpPr txBox="1"/>
          <p:nvPr/>
        </p:nvSpPr>
        <p:spPr>
          <a:xfrm>
            <a:off x="9134856" y="5148072"/>
            <a:ext cx="2057400" cy="502920"/>
          </a:xfrm>
          <a:prstGeom prst="rect">
            <a:avLst/>
          </a:prstGeom>
          <a:noFill/>
        </p:spPr>
        <p:txBody>
          <a:bodyPr wrap="none" lIns="0" rIns="0" tIns="0" bIns="0" anchor="t">
            <a:spAutoFit/>
          </a:bodyPr>
          <a:lstStyle/>
          <a:p>
            <a:pPr algn="l">
              <a:lnSpc>
                <a:spcPct val="110000"/>
              </a:lnSpc>
            </a:pPr>
            <a:r>
              <a:rPr sz="1050" b="0">
                <a:solidFill>
                  <a:srgbClr val="A9B1C2"/>
                </a:solidFill>
                <a:latin typeface="Aptos"/>
              </a:rPr>
              <a:t>Cited educator personas</a:t>
            </a:r>
            <a:br/>
            <a:r>
              <a:t>that decline when unsure</a:t>
            </a:r>
          </a:p>
        </p:txBody>
      </p:sp>
      <p:sp>
        <p:nvSpPr>
          <p:cNvPr id="35" name="TextBox 34"/>
          <p:cNvSpPr txBox="1"/>
          <p:nvPr/>
        </p:nvSpPr>
        <p:spPr>
          <a:xfrm>
            <a:off x="5349240" y="2176272"/>
            <a:ext cx="1463040" cy="182880"/>
          </a:xfrm>
          <a:prstGeom prst="rect">
            <a:avLst/>
          </a:prstGeom>
          <a:noFill/>
        </p:spPr>
        <p:txBody>
          <a:bodyPr wrap="none" lIns="0" rIns="0" tIns="0" bIns="0" anchor="t">
            <a:spAutoFit/>
          </a:bodyPr>
          <a:lstStyle/>
          <a:p>
            <a:pPr algn="ctr">
              <a:lnSpc>
                <a:spcPct val="100000"/>
              </a:lnSpc>
            </a:pPr>
            <a:r>
              <a:rPr sz="800" b="1">
                <a:solidFill>
                  <a:srgbClr val="7E889E"/>
                </a:solidFill>
                <a:latin typeface="Aptos"/>
              </a:rPr>
              <a:t>PROFILE</a:t>
            </a:r>
          </a:p>
        </p:txBody>
      </p:sp>
      <p:sp>
        <p:nvSpPr>
          <p:cNvPr id="36" name="TextBox 35"/>
          <p:cNvSpPr txBox="1"/>
          <p:nvPr/>
        </p:nvSpPr>
        <p:spPr>
          <a:xfrm>
            <a:off x="5285232" y="5093208"/>
            <a:ext cx="1600200" cy="182880"/>
          </a:xfrm>
          <a:prstGeom prst="rect">
            <a:avLst/>
          </a:prstGeom>
          <a:noFill/>
        </p:spPr>
        <p:txBody>
          <a:bodyPr wrap="none" lIns="0" rIns="0" tIns="0" bIns="0" anchor="t">
            <a:spAutoFit/>
          </a:bodyPr>
          <a:lstStyle/>
          <a:p>
            <a:pPr algn="ctr">
              <a:lnSpc>
                <a:spcPct val="100000"/>
              </a:lnSpc>
            </a:pPr>
            <a:r>
              <a:rPr sz="800" b="1">
                <a:solidFill>
                  <a:srgbClr val="7E889E"/>
                </a:solidFill>
                <a:latin typeface="Aptos"/>
              </a:rPr>
              <a:t>CLASSROOM</a:t>
            </a:r>
          </a:p>
        </p:txBody>
      </p:sp>
      <p:sp>
        <p:nvSpPr>
          <p:cNvPr id="37" name="TextBox 36"/>
          <p:cNvSpPr txBox="1"/>
          <p:nvPr/>
        </p:nvSpPr>
        <p:spPr>
          <a:xfrm>
            <a:off x="640080" y="6510528"/>
            <a:ext cx="2743200" cy="164592"/>
          </a:xfrm>
          <a:prstGeom prst="rect">
            <a:avLst/>
          </a:prstGeom>
          <a:noFill/>
        </p:spPr>
        <p:txBody>
          <a:bodyPr wrap="none" lIns="0" rIns="0" tIns="0" bIns="0" anchor="t">
            <a:spAutoFit/>
          </a:bodyPr>
          <a:lstStyle/>
          <a:p>
            <a:pPr algn="l">
              <a:lnSpc>
                <a:spcPct val="100000"/>
              </a:lnSpc>
            </a:pPr>
            <a:r>
              <a:rPr sz="750" b="1">
                <a:solidFill>
                  <a:srgbClr val="AAB2C2"/>
                </a:solidFill>
                <a:latin typeface="Aptos"/>
              </a:rPr>
              <a:t>EDUMATCH · HACKMIT 2026</a:t>
            </a:r>
          </a:p>
        </p:txBody>
      </p:sp>
      <p:sp>
        <p:nvSpPr>
          <p:cNvPr id="38" name="TextBox 37"/>
          <p:cNvSpPr txBox="1"/>
          <p:nvPr/>
        </p:nvSpPr>
        <p:spPr>
          <a:xfrm>
            <a:off x="11018520" y="6473952"/>
            <a:ext cx="502920" cy="201168"/>
          </a:xfrm>
          <a:prstGeom prst="rect">
            <a:avLst/>
          </a:prstGeom>
          <a:noFill/>
        </p:spPr>
        <p:txBody>
          <a:bodyPr wrap="none" lIns="0" rIns="0" tIns="0" bIns="0" anchor="t">
            <a:spAutoFit/>
          </a:bodyPr>
          <a:lstStyle/>
          <a:p>
            <a:pPr algn="r">
              <a:lnSpc>
                <a:spcPct val="100000"/>
              </a:lnSpc>
            </a:pPr>
            <a:r>
              <a:rPr sz="800" b="1">
                <a:solidFill>
                  <a:srgbClr val="AAB2C2"/>
                </a:solidFill>
                <a:latin typeface="Aptos"/>
              </a:rP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Oval 1"/>
          <p:cNvSpPr/>
          <p:nvPr/>
        </p:nvSpPr>
        <p:spPr>
          <a:xfrm>
            <a:off x="621792" y="384048"/>
            <a:ext cx="292608" cy="292608"/>
          </a:xfrm>
          <a:prstGeom prst="ellipse">
            <a:avLst/>
          </a:prstGeom>
          <a:solidFill>
            <a:srgbClr val="5239F4"/>
          </a:solidFill>
          <a:ln w="12700">
            <a:solidFill>
              <a:srgbClr val="5239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16052"/>
            <a:ext cx="292608" cy="182880"/>
          </a:xfrm>
          <a:prstGeom prst="rect">
            <a:avLst/>
          </a:prstGeom>
          <a:noFill/>
        </p:spPr>
        <p:txBody>
          <a:bodyPr wrap="none" lIns="0" rIns="0" tIns="0" bIns="0" anchor="t">
            <a:spAutoFit/>
          </a:bodyPr>
          <a:lstStyle/>
          <a:p>
            <a:pPr algn="ctr">
              <a:lnSpc>
                <a:spcPct val="100000"/>
              </a:lnSpc>
            </a:pPr>
            <a:r>
              <a:rPr sz="900" b="1">
                <a:solidFill>
                  <a:srgbClr val="FFFFFF"/>
                </a:solidFill>
                <a:latin typeface="Aptos"/>
              </a:rPr>
              <a:t>E</a:t>
            </a:r>
          </a:p>
        </p:txBody>
      </p:sp>
      <p:sp>
        <p:nvSpPr>
          <p:cNvPr id="4" name="TextBox 3"/>
          <p:cNvSpPr txBox="1"/>
          <p:nvPr/>
        </p:nvSpPr>
        <p:spPr>
          <a:xfrm>
            <a:off x="1005840" y="411480"/>
            <a:ext cx="1097280" cy="219456"/>
          </a:xfrm>
          <a:prstGeom prst="rect">
            <a:avLst/>
          </a:prstGeom>
          <a:noFill/>
        </p:spPr>
        <p:txBody>
          <a:bodyPr wrap="none" lIns="0" rIns="0" tIns="0" bIns="0" anchor="t">
            <a:spAutoFit/>
          </a:bodyPr>
          <a:lstStyle/>
          <a:p>
            <a:pPr algn="l">
              <a:lnSpc>
                <a:spcPct val="100000"/>
              </a:lnSpc>
            </a:pPr>
            <a:r>
              <a:rPr sz="1100" b="1">
                <a:solidFill>
                  <a:srgbClr val="0B1020"/>
                </a:solidFill>
                <a:latin typeface="Aptos"/>
              </a:rPr>
              <a:t>EduMatch</a:t>
            </a:r>
          </a:p>
        </p:txBody>
      </p:sp>
      <p:sp>
        <p:nvSpPr>
          <p:cNvPr id="5" name="TextBox 4"/>
          <p:cNvSpPr txBox="1"/>
          <p:nvPr/>
        </p:nvSpPr>
        <p:spPr>
          <a:xfrm>
            <a:off x="685800" y="960120"/>
            <a:ext cx="3200400" cy="237744"/>
          </a:xfrm>
          <a:prstGeom prst="rect">
            <a:avLst/>
          </a:prstGeom>
          <a:noFill/>
        </p:spPr>
        <p:txBody>
          <a:bodyPr wrap="none" lIns="0" rIns="0" tIns="0" bIns="0" anchor="t">
            <a:spAutoFit/>
          </a:bodyPr>
          <a:lstStyle/>
          <a:p>
            <a:pPr algn="l">
              <a:lnSpc>
                <a:spcPct val="100000"/>
              </a:lnSpc>
            </a:pPr>
            <a:r>
              <a:rPr sz="900" b="1">
                <a:solidFill>
                  <a:srgbClr val="5239F4"/>
                </a:solidFill>
                <a:latin typeface="Aptos"/>
              </a:rPr>
              <a:t>WORKING PRODUCT · PERSONALIZED MATCHING</a:t>
            </a:r>
          </a:p>
        </p:txBody>
      </p:sp>
      <p:sp>
        <p:nvSpPr>
          <p:cNvPr id="6" name="TextBox 5"/>
          <p:cNvSpPr txBox="1"/>
          <p:nvPr/>
        </p:nvSpPr>
        <p:spPr>
          <a:xfrm>
            <a:off x="685800" y="1261872"/>
            <a:ext cx="4572000" cy="713232"/>
          </a:xfrm>
          <a:prstGeom prst="rect">
            <a:avLst/>
          </a:prstGeom>
          <a:noFill/>
        </p:spPr>
        <p:txBody>
          <a:bodyPr wrap="none" lIns="0" rIns="0" tIns="0" bIns="0" anchor="t">
            <a:spAutoFit/>
          </a:bodyPr>
          <a:lstStyle/>
          <a:p>
            <a:pPr algn="l">
              <a:lnSpc>
                <a:spcPct val="100000"/>
              </a:lnSpc>
            </a:pPr>
            <a:r>
              <a:rPr sz="3100" b="1">
                <a:solidFill>
                  <a:srgbClr val="0B1020"/>
                </a:solidFill>
                <a:latin typeface="Aptos Display"/>
              </a:rPr>
              <a:t>A recommendation that explains itself.</a:t>
            </a:r>
          </a:p>
        </p:txBody>
      </p:sp>
      <p:sp>
        <p:nvSpPr>
          <p:cNvPr id="7" name="TextBox 6"/>
          <p:cNvSpPr txBox="1"/>
          <p:nvPr/>
        </p:nvSpPr>
        <p:spPr>
          <a:xfrm>
            <a:off x="713232" y="2057400"/>
            <a:ext cx="3611880" cy="1051560"/>
          </a:xfrm>
          <a:prstGeom prst="rect">
            <a:avLst/>
          </a:prstGeom>
          <a:noFill/>
        </p:spPr>
        <p:txBody>
          <a:bodyPr wrap="none" lIns="0" rIns="0" tIns="0" bIns="0" anchor="t">
            <a:spAutoFit/>
          </a:bodyPr>
          <a:lstStyle/>
          <a:p>
            <a:pPr algn="l">
              <a:lnSpc>
                <a:spcPct val="112000"/>
              </a:lnSpc>
            </a:pPr>
            <a:r>
              <a:rPr sz="1400" b="0">
                <a:solidFill>
                  <a:srgbClr val="697386"/>
                </a:solidFill>
                <a:latin typeface="Aptos"/>
              </a:rPr>
              <a:t>Alice is a project-based high-school CS teacher in Boston. EduMatch scores 367 candidates and surfaces Bob—not because they share a title, but because their classrooms fit.</a:t>
            </a:r>
          </a:p>
        </p:txBody>
      </p:sp>
      <p:sp>
        <p:nvSpPr>
          <p:cNvPr id="8" name="TextBox 7"/>
          <p:cNvSpPr txBox="1"/>
          <p:nvPr/>
        </p:nvSpPr>
        <p:spPr>
          <a:xfrm>
            <a:off x="713232" y="3383280"/>
            <a:ext cx="1371600" cy="603504"/>
          </a:xfrm>
          <a:prstGeom prst="rect">
            <a:avLst/>
          </a:prstGeom>
          <a:noFill/>
        </p:spPr>
        <p:txBody>
          <a:bodyPr wrap="none" lIns="0" rIns="0" tIns="0" bIns="0" anchor="t">
            <a:spAutoFit/>
          </a:bodyPr>
          <a:lstStyle/>
          <a:p>
            <a:pPr algn="l">
              <a:lnSpc>
                <a:spcPct val="100000"/>
              </a:lnSpc>
            </a:pPr>
            <a:r>
              <a:rPr sz="3500" b="1">
                <a:solidFill>
                  <a:srgbClr val="5239F4"/>
                </a:solidFill>
                <a:latin typeface="Aptos"/>
              </a:rPr>
              <a:t>85%</a:t>
            </a:r>
          </a:p>
        </p:txBody>
      </p:sp>
      <p:sp>
        <p:nvSpPr>
          <p:cNvPr id="9" name="TextBox 8"/>
          <p:cNvSpPr txBox="1"/>
          <p:nvPr/>
        </p:nvSpPr>
        <p:spPr>
          <a:xfrm>
            <a:off x="731520" y="3950208"/>
            <a:ext cx="1280160" cy="228600"/>
          </a:xfrm>
          <a:prstGeom prst="rect">
            <a:avLst/>
          </a:prstGeom>
          <a:noFill/>
        </p:spPr>
        <p:txBody>
          <a:bodyPr wrap="none" lIns="0" rIns="0" tIns="0" bIns="0" anchor="t">
            <a:spAutoFit/>
          </a:bodyPr>
          <a:lstStyle/>
          <a:p>
            <a:pPr algn="l">
              <a:lnSpc>
                <a:spcPct val="100000"/>
              </a:lnSpc>
            </a:pPr>
            <a:r>
              <a:rPr sz="1000" b="1">
                <a:solidFill>
                  <a:srgbClr val="697386"/>
                </a:solidFill>
                <a:latin typeface="Aptos"/>
              </a:rPr>
              <a:t>top match</a:t>
            </a:r>
          </a:p>
        </p:txBody>
      </p:sp>
      <p:sp>
        <p:nvSpPr>
          <p:cNvPr id="10" name="Oval 9"/>
          <p:cNvSpPr/>
          <p:nvPr/>
        </p:nvSpPr>
        <p:spPr>
          <a:xfrm>
            <a:off x="749808" y="4416552"/>
            <a:ext cx="146304" cy="146304"/>
          </a:xfrm>
          <a:prstGeom prst="ellipse">
            <a:avLst/>
          </a:prstGeom>
          <a:solidFill>
            <a:srgbClr val="5CD6A8"/>
          </a:solidFill>
          <a:ln w="12700">
            <a:solidFill>
              <a:srgbClr val="5CD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49808" y="4439412"/>
            <a:ext cx="146304" cy="100584"/>
          </a:xfrm>
          <a:prstGeom prst="rect">
            <a:avLst/>
          </a:prstGeom>
          <a:noFill/>
        </p:spPr>
        <p:txBody>
          <a:bodyPr wrap="none" lIns="0" rIns="0" tIns="0" bIns="0" anchor="t">
            <a:spAutoFit/>
          </a:bodyPr>
          <a:lstStyle/>
          <a:p>
            <a:pPr algn="ctr">
              <a:lnSpc>
                <a:spcPct val="100000"/>
              </a:lnSpc>
            </a:pPr>
            <a:r>
              <a:rPr sz="700" b="1">
                <a:solidFill>
                  <a:srgbClr val="0B1020"/>
                </a:solidFill>
                <a:latin typeface="Aptos"/>
              </a:rPr>
              <a:t>✓</a:t>
            </a:r>
          </a:p>
        </p:txBody>
      </p:sp>
      <p:sp>
        <p:nvSpPr>
          <p:cNvPr id="12" name="TextBox 11"/>
          <p:cNvSpPr txBox="1"/>
          <p:nvPr/>
        </p:nvSpPr>
        <p:spPr>
          <a:xfrm>
            <a:off x="1024128" y="4389120"/>
            <a:ext cx="3017520" cy="219456"/>
          </a:xfrm>
          <a:prstGeom prst="rect">
            <a:avLst/>
          </a:prstGeom>
          <a:noFill/>
        </p:spPr>
        <p:txBody>
          <a:bodyPr wrap="none" lIns="0" rIns="0" tIns="0" bIns="0" anchor="t">
            <a:spAutoFit/>
          </a:bodyPr>
          <a:lstStyle/>
          <a:p>
            <a:pPr algn="l">
              <a:lnSpc>
                <a:spcPct val="100000"/>
              </a:lnSpc>
            </a:pPr>
            <a:r>
              <a:rPr sz="1150" b="0">
                <a:solidFill>
                  <a:srgbClr val="0B1020"/>
                </a:solidFill>
                <a:latin typeface="Aptos"/>
              </a:rPr>
              <a:t>Shared expertise</a:t>
            </a:r>
          </a:p>
        </p:txBody>
      </p:sp>
      <p:sp>
        <p:nvSpPr>
          <p:cNvPr id="13" name="Oval 12"/>
          <p:cNvSpPr/>
          <p:nvPr/>
        </p:nvSpPr>
        <p:spPr>
          <a:xfrm>
            <a:off x="749808" y="4809744"/>
            <a:ext cx="146304" cy="146304"/>
          </a:xfrm>
          <a:prstGeom prst="ellipse">
            <a:avLst/>
          </a:prstGeom>
          <a:solidFill>
            <a:srgbClr val="5CD6A8"/>
          </a:solidFill>
          <a:ln w="12700">
            <a:solidFill>
              <a:srgbClr val="5CD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49808" y="4832604"/>
            <a:ext cx="146304" cy="100584"/>
          </a:xfrm>
          <a:prstGeom prst="rect">
            <a:avLst/>
          </a:prstGeom>
          <a:noFill/>
        </p:spPr>
        <p:txBody>
          <a:bodyPr wrap="none" lIns="0" rIns="0" tIns="0" bIns="0" anchor="t">
            <a:spAutoFit/>
          </a:bodyPr>
          <a:lstStyle/>
          <a:p>
            <a:pPr algn="ctr">
              <a:lnSpc>
                <a:spcPct val="100000"/>
              </a:lnSpc>
            </a:pPr>
            <a:r>
              <a:rPr sz="700" b="1">
                <a:solidFill>
                  <a:srgbClr val="0B1020"/>
                </a:solidFill>
                <a:latin typeface="Aptos"/>
              </a:rPr>
              <a:t>✓</a:t>
            </a:r>
          </a:p>
        </p:txBody>
      </p:sp>
      <p:sp>
        <p:nvSpPr>
          <p:cNvPr id="15" name="TextBox 14"/>
          <p:cNvSpPr txBox="1"/>
          <p:nvPr/>
        </p:nvSpPr>
        <p:spPr>
          <a:xfrm>
            <a:off x="1024128" y="4782312"/>
            <a:ext cx="3017520" cy="219456"/>
          </a:xfrm>
          <a:prstGeom prst="rect">
            <a:avLst/>
          </a:prstGeom>
          <a:noFill/>
        </p:spPr>
        <p:txBody>
          <a:bodyPr wrap="none" lIns="0" rIns="0" tIns="0" bIns="0" anchor="t">
            <a:spAutoFit/>
          </a:bodyPr>
          <a:lstStyle/>
          <a:p>
            <a:pPr algn="l">
              <a:lnSpc>
                <a:spcPct val="100000"/>
              </a:lnSpc>
            </a:pPr>
            <a:r>
              <a:rPr sz="1150" b="0">
                <a:solidFill>
                  <a:srgbClr val="0B1020"/>
                </a:solidFill>
                <a:latin typeface="Aptos"/>
              </a:rPr>
              <a:t>Teaching philosophy</a:t>
            </a:r>
          </a:p>
        </p:txBody>
      </p:sp>
      <p:sp>
        <p:nvSpPr>
          <p:cNvPr id="16" name="Oval 15"/>
          <p:cNvSpPr/>
          <p:nvPr/>
        </p:nvSpPr>
        <p:spPr>
          <a:xfrm>
            <a:off x="749808" y="5202936"/>
            <a:ext cx="146304" cy="146304"/>
          </a:xfrm>
          <a:prstGeom prst="ellipse">
            <a:avLst/>
          </a:prstGeom>
          <a:solidFill>
            <a:srgbClr val="5CD6A8"/>
          </a:solidFill>
          <a:ln w="12700">
            <a:solidFill>
              <a:srgbClr val="5CD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749808" y="5225796"/>
            <a:ext cx="146304" cy="100584"/>
          </a:xfrm>
          <a:prstGeom prst="rect">
            <a:avLst/>
          </a:prstGeom>
          <a:noFill/>
        </p:spPr>
        <p:txBody>
          <a:bodyPr wrap="none" lIns="0" rIns="0" tIns="0" bIns="0" anchor="t">
            <a:spAutoFit/>
          </a:bodyPr>
          <a:lstStyle/>
          <a:p>
            <a:pPr algn="ctr">
              <a:lnSpc>
                <a:spcPct val="100000"/>
              </a:lnSpc>
            </a:pPr>
            <a:r>
              <a:rPr sz="700" b="1">
                <a:solidFill>
                  <a:srgbClr val="0B1020"/>
                </a:solidFill>
                <a:latin typeface="Aptos"/>
              </a:rPr>
              <a:t>✓</a:t>
            </a:r>
          </a:p>
        </p:txBody>
      </p:sp>
      <p:sp>
        <p:nvSpPr>
          <p:cNvPr id="18" name="TextBox 17"/>
          <p:cNvSpPr txBox="1"/>
          <p:nvPr/>
        </p:nvSpPr>
        <p:spPr>
          <a:xfrm>
            <a:off x="1024128" y="5175504"/>
            <a:ext cx="3017520" cy="219456"/>
          </a:xfrm>
          <a:prstGeom prst="rect">
            <a:avLst/>
          </a:prstGeom>
          <a:noFill/>
        </p:spPr>
        <p:txBody>
          <a:bodyPr wrap="none" lIns="0" rIns="0" tIns="0" bIns="0" anchor="t">
            <a:spAutoFit/>
          </a:bodyPr>
          <a:lstStyle/>
          <a:p>
            <a:pPr algn="l">
              <a:lnSpc>
                <a:spcPct val="100000"/>
              </a:lnSpc>
            </a:pPr>
            <a:r>
              <a:rPr sz="1150" b="0">
                <a:solidFill>
                  <a:srgbClr val="0B1020"/>
                </a:solidFill>
                <a:latin typeface="Aptos"/>
              </a:rPr>
              <a:t>Learner level + distance</a:t>
            </a:r>
          </a:p>
        </p:txBody>
      </p:sp>
      <p:sp>
        <p:nvSpPr>
          <p:cNvPr id="19" name="Oval 18"/>
          <p:cNvSpPr/>
          <p:nvPr/>
        </p:nvSpPr>
        <p:spPr>
          <a:xfrm>
            <a:off x="749808" y="5596128"/>
            <a:ext cx="146304" cy="146304"/>
          </a:xfrm>
          <a:prstGeom prst="ellipse">
            <a:avLst/>
          </a:prstGeom>
          <a:solidFill>
            <a:srgbClr val="5CD6A8"/>
          </a:solidFill>
          <a:ln w="12700">
            <a:solidFill>
              <a:srgbClr val="5CD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49808" y="5618988"/>
            <a:ext cx="146304" cy="100584"/>
          </a:xfrm>
          <a:prstGeom prst="rect">
            <a:avLst/>
          </a:prstGeom>
          <a:noFill/>
        </p:spPr>
        <p:txBody>
          <a:bodyPr wrap="none" lIns="0" rIns="0" tIns="0" bIns="0" anchor="t">
            <a:spAutoFit/>
          </a:bodyPr>
          <a:lstStyle/>
          <a:p>
            <a:pPr algn="ctr">
              <a:lnSpc>
                <a:spcPct val="100000"/>
              </a:lnSpc>
            </a:pPr>
            <a:r>
              <a:rPr sz="700" b="1">
                <a:solidFill>
                  <a:srgbClr val="0B1020"/>
                </a:solidFill>
                <a:latin typeface="Aptos"/>
              </a:rPr>
              <a:t>✓</a:t>
            </a:r>
          </a:p>
        </p:txBody>
      </p:sp>
      <p:sp>
        <p:nvSpPr>
          <p:cNvPr id="21" name="TextBox 20"/>
          <p:cNvSpPr txBox="1"/>
          <p:nvPr/>
        </p:nvSpPr>
        <p:spPr>
          <a:xfrm>
            <a:off x="1024128" y="5568696"/>
            <a:ext cx="3017520" cy="219456"/>
          </a:xfrm>
          <a:prstGeom prst="rect">
            <a:avLst/>
          </a:prstGeom>
          <a:noFill/>
        </p:spPr>
        <p:txBody>
          <a:bodyPr wrap="none" lIns="0" rIns="0" tIns="0" bIns="0" anchor="t">
            <a:spAutoFit/>
          </a:bodyPr>
          <a:lstStyle/>
          <a:p>
            <a:pPr algn="l">
              <a:lnSpc>
                <a:spcPct val="100000"/>
              </a:lnSpc>
            </a:pPr>
            <a:r>
              <a:rPr sz="1150" b="0">
                <a:solidFill>
                  <a:srgbClr val="0B1020"/>
                </a:solidFill>
                <a:latin typeface="Aptos"/>
              </a:rPr>
              <a:t>One-click collaboration brief</a:t>
            </a:r>
          </a:p>
        </p:txBody>
      </p:sp>
      <p:pic>
        <p:nvPicPr>
          <p:cNvPr id="22" name="Picture 21" descr="pitch-matches.png"/>
          <p:cNvPicPr>
            <a:picLocks noChangeAspect="1"/>
          </p:cNvPicPr>
          <p:nvPr/>
        </p:nvPicPr>
        <p:blipFill>
          <a:blip r:embed="rId2"/>
          <a:srcRect l="135" r="135"/>
          <a:stretch>
            <a:fillRect/>
          </a:stretch>
        </p:blipFill>
        <p:spPr>
          <a:xfrm>
            <a:off x="4617720" y="1143000"/>
            <a:ext cx="6995160" cy="4498848"/>
          </a:xfrm>
          <a:prstGeom prst="rect">
            <a:avLst/>
          </a:prstGeom>
        </p:spPr>
      </p:pic>
      <p:sp>
        <p:nvSpPr>
          <p:cNvPr id="23" name="Rounded Rectangle 22"/>
          <p:cNvSpPr/>
          <p:nvPr/>
        </p:nvSpPr>
        <p:spPr>
          <a:xfrm>
            <a:off x="4590288" y="1115568"/>
            <a:ext cx="7050024" cy="4553712"/>
          </a:xfrm>
          <a:prstGeom prst="roundRect">
            <a:avLst/>
          </a:prstGeom>
          <a:noFill/>
          <a:ln w="1905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5047488" y="5806440"/>
            <a:ext cx="6126480" cy="411480"/>
          </a:xfrm>
          <a:prstGeom prst="roundRect">
            <a:avLst/>
          </a:prstGeom>
          <a:solidFill>
            <a:srgbClr val="EFEDFF"/>
          </a:solidFill>
          <a:ln w="12700">
            <a:solidFill>
              <a:srgbClr val="EFED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5257800" y="5925312"/>
            <a:ext cx="5715000" cy="182880"/>
          </a:xfrm>
          <a:prstGeom prst="rect">
            <a:avLst/>
          </a:prstGeom>
          <a:noFill/>
        </p:spPr>
        <p:txBody>
          <a:bodyPr wrap="none" lIns="0" rIns="0" tIns="0" bIns="0" anchor="t">
            <a:spAutoFit/>
          </a:bodyPr>
          <a:lstStyle/>
          <a:p>
            <a:pPr algn="ctr">
              <a:lnSpc>
                <a:spcPct val="100000"/>
              </a:lnSpc>
            </a:pPr>
            <a:r>
              <a:rPr sz="1100" b="1">
                <a:solidFill>
                  <a:srgbClr val="5239F4"/>
                </a:solidFill>
                <a:latin typeface="Aptos"/>
              </a:rPr>
              <a:t>Not a black box: users can open every factor and tune the weights live.</a:t>
            </a:r>
          </a:p>
        </p:txBody>
      </p:sp>
      <p:sp>
        <p:nvSpPr>
          <p:cNvPr id="26" name="TextBox 25"/>
          <p:cNvSpPr txBox="1"/>
          <p:nvPr/>
        </p:nvSpPr>
        <p:spPr>
          <a:xfrm>
            <a:off x="640080" y="6510528"/>
            <a:ext cx="2743200" cy="164592"/>
          </a:xfrm>
          <a:prstGeom prst="rect">
            <a:avLst/>
          </a:prstGeom>
          <a:noFill/>
        </p:spPr>
        <p:txBody>
          <a:bodyPr wrap="none" lIns="0" rIns="0" tIns="0" bIns="0" anchor="t">
            <a:spAutoFit/>
          </a:bodyPr>
          <a:lstStyle/>
          <a:p>
            <a:pPr algn="l">
              <a:lnSpc>
                <a:spcPct val="100000"/>
              </a:lnSpc>
            </a:pPr>
            <a:r>
              <a:rPr sz="750" b="1">
                <a:solidFill>
                  <a:srgbClr val="8A93A5"/>
                </a:solidFill>
                <a:latin typeface="Aptos"/>
              </a:rPr>
              <a:t>EDUMATCH · HACKMIT 2026</a:t>
            </a:r>
          </a:p>
        </p:txBody>
      </p:sp>
      <p:sp>
        <p:nvSpPr>
          <p:cNvPr id="27" name="TextBox 26"/>
          <p:cNvSpPr txBox="1"/>
          <p:nvPr/>
        </p:nvSpPr>
        <p:spPr>
          <a:xfrm>
            <a:off x="11018520" y="6473952"/>
            <a:ext cx="502920" cy="201168"/>
          </a:xfrm>
          <a:prstGeom prst="rect">
            <a:avLst/>
          </a:prstGeom>
          <a:noFill/>
        </p:spPr>
        <p:txBody>
          <a:bodyPr wrap="none" lIns="0" rIns="0" tIns="0" bIns="0" anchor="t">
            <a:spAutoFit/>
          </a:bodyPr>
          <a:lstStyle/>
          <a:p>
            <a:pPr algn="r">
              <a:lnSpc>
                <a:spcPct val="100000"/>
              </a:lnSpc>
            </a:pPr>
            <a:r>
              <a:rPr sz="800" b="1">
                <a:solidFill>
                  <a:srgbClr val="8A93A5"/>
                </a:solidFill>
                <a:latin typeface="Aptos"/>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val 1"/>
          <p:cNvSpPr/>
          <p:nvPr/>
        </p:nvSpPr>
        <p:spPr>
          <a:xfrm>
            <a:off x="621792" y="384048"/>
            <a:ext cx="292608" cy="292608"/>
          </a:xfrm>
          <a:prstGeom prst="ellipse">
            <a:avLst/>
          </a:prstGeom>
          <a:solidFill>
            <a:srgbClr val="5239F4"/>
          </a:solidFill>
          <a:ln w="12700">
            <a:solidFill>
              <a:srgbClr val="5239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16052"/>
            <a:ext cx="292608" cy="182880"/>
          </a:xfrm>
          <a:prstGeom prst="rect">
            <a:avLst/>
          </a:prstGeom>
          <a:noFill/>
        </p:spPr>
        <p:txBody>
          <a:bodyPr wrap="none" lIns="0" rIns="0" tIns="0" bIns="0" anchor="t">
            <a:spAutoFit/>
          </a:bodyPr>
          <a:lstStyle/>
          <a:p>
            <a:pPr algn="ctr">
              <a:lnSpc>
                <a:spcPct val="100000"/>
              </a:lnSpc>
            </a:pPr>
            <a:r>
              <a:rPr sz="900" b="1">
                <a:solidFill>
                  <a:srgbClr val="FFFFFF"/>
                </a:solidFill>
                <a:latin typeface="Aptos"/>
              </a:rPr>
              <a:t>E</a:t>
            </a:r>
          </a:p>
        </p:txBody>
      </p:sp>
      <p:sp>
        <p:nvSpPr>
          <p:cNvPr id="4" name="TextBox 3"/>
          <p:cNvSpPr txBox="1"/>
          <p:nvPr/>
        </p:nvSpPr>
        <p:spPr>
          <a:xfrm>
            <a:off x="1005840" y="411480"/>
            <a:ext cx="1097280" cy="219456"/>
          </a:xfrm>
          <a:prstGeom prst="rect">
            <a:avLst/>
          </a:prstGeom>
          <a:noFill/>
        </p:spPr>
        <p:txBody>
          <a:bodyPr wrap="none" lIns="0" rIns="0" tIns="0" bIns="0" anchor="t">
            <a:spAutoFit/>
          </a:bodyPr>
          <a:lstStyle/>
          <a:p>
            <a:pPr algn="l">
              <a:lnSpc>
                <a:spcPct val="100000"/>
              </a:lnSpc>
            </a:pPr>
            <a:r>
              <a:rPr sz="1100" b="1">
                <a:solidFill>
                  <a:srgbClr val="0B1020"/>
                </a:solidFill>
                <a:latin typeface="Aptos"/>
              </a:rPr>
              <a:t>EduMatch</a:t>
            </a:r>
          </a:p>
        </p:txBody>
      </p:sp>
      <p:sp>
        <p:nvSpPr>
          <p:cNvPr id="5" name="TextBox 4"/>
          <p:cNvSpPr txBox="1"/>
          <p:nvPr/>
        </p:nvSpPr>
        <p:spPr>
          <a:xfrm>
            <a:off x="685800" y="941832"/>
            <a:ext cx="3200400" cy="237744"/>
          </a:xfrm>
          <a:prstGeom prst="rect">
            <a:avLst/>
          </a:prstGeom>
          <a:noFill/>
        </p:spPr>
        <p:txBody>
          <a:bodyPr wrap="none" lIns="0" rIns="0" tIns="0" bIns="0" anchor="t">
            <a:spAutoFit/>
          </a:bodyPr>
          <a:lstStyle/>
          <a:p>
            <a:pPr algn="l">
              <a:lnSpc>
                <a:spcPct val="100000"/>
              </a:lnSpc>
            </a:pPr>
            <a:r>
              <a:rPr sz="900" b="1">
                <a:solidFill>
                  <a:srgbClr val="5239F4"/>
                </a:solidFill>
                <a:latin typeface="Aptos"/>
              </a:rPr>
              <a:t>BEYOND NETWORKING</a:t>
            </a:r>
          </a:p>
        </p:txBody>
      </p:sp>
      <p:sp>
        <p:nvSpPr>
          <p:cNvPr id="6" name="TextBox 5"/>
          <p:cNvSpPr txBox="1"/>
          <p:nvPr/>
        </p:nvSpPr>
        <p:spPr>
          <a:xfrm>
            <a:off x="685800" y="1243584"/>
            <a:ext cx="10881360" cy="713232"/>
          </a:xfrm>
          <a:prstGeom prst="rect">
            <a:avLst/>
          </a:prstGeom>
          <a:noFill/>
        </p:spPr>
        <p:txBody>
          <a:bodyPr wrap="none" lIns="0" rIns="0" tIns="0" bIns="0" anchor="t">
            <a:spAutoFit/>
          </a:bodyPr>
          <a:lstStyle/>
          <a:p>
            <a:pPr algn="l">
              <a:lnSpc>
                <a:spcPct val="100000"/>
              </a:lnSpc>
            </a:pPr>
            <a:r>
              <a:rPr sz="3000" b="1">
                <a:solidFill>
                  <a:srgbClr val="0B1020"/>
                </a:solidFill>
                <a:latin typeface="Aptos Display"/>
              </a:rPr>
              <a:t>From “who should I meet?” to “what should I teach Monday?”</a:t>
            </a:r>
          </a:p>
        </p:txBody>
      </p:sp>
      <p:sp>
        <p:nvSpPr>
          <p:cNvPr id="7" name="TextBox 6"/>
          <p:cNvSpPr txBox="1"/>
          <p:nvPr/>
        </p:nvSpPr>
        <p:spPr>
          <a:xfrm>
            <a:off x="713232" y="1901952"/>
            <a:ext cx="7772400" cy="320040"/>
          </a:xfrm>
          <a:prstGeom prst="rect">
            <a:avLst/>
          </a:prstGeom>
          <a:noFill/>
        </p:spPr>
        <p:txBody>
          <a:bodyPr wrap="none" lIns="0" rIns="0" tIns="0" bIns="0" anchor="t">
            <a:spAutoFit/>
          </a:bodyPr>
          <a:lstStyle/>
          <a:p>
            <a:pPr algn="l">
              <a:lnSpc>
                <a:spcPct val="100000"/>
              </a:lnSpc>
            </a:pPr>
            <a:r>
              <a:rPr sz="1400" b="0">
                <a:solidFill>
                  <a:srgbClr val="697386"/>
                </a:solidFill>
                <a:latin typeface="Aptos"/>
              </a:rPr>
              <a:t>EduMatch carries context from the educator profile into real classroom work.</a:t>
            </a:r>
          </a:p>
        </p:txBody>
      </p:sp>
      <p:pic>
        <p:nvPicPr>
          <p:cNvPr id="8" name="Picture 7" descr="pitch-classes.png"/>
          <p:cNvPicPr>
            <a:picLocks noChangeAspect="1"/>
          </p:cNvPicPr>
          <p:nvPr/>
        </p:nvPicPr>
        <p:blipFill>
          <a:blip r:embed="rId2"/>
          <a:srcRect t="174" b="174"/>
          <a:stretch>
            <a:fillRect/>
          </a:stretch>
        </p:blipFill>
        <p:spPr>
          <a:xfrm>
            <a:off x="685800" y="2423160"/>
            <a:ext cx="5321808" cy="3401568"/>
          </a:xfrm>
          <a:prstGeom prst="rect">
            <a:avLst/>
          </a:prstGeom>
        </p:spPr>
      </p:pic>
      <p:sp>
        <p:nvSpPr>
          <p:cNvPr id="9" name="Rounded Rectangle 8"/>
          <p:cNvSpPr/>
          <p:nvPr/>
        </p:nvSpPr>
        <p:spPr>
          <a:xfrm>
            <a:off x="658368" y="2395728"/>
            <a:ext cx="5376672" cy="3456432"/>
          </a:xfrm>
          <a:prstGeom prst="roundRect">
            <a:avLst/>
          </a:prstGeom>
          <a:noFill/>
          <a:ln w="1905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0" name="Picture 9" descr="pitch-resources.png"/>
          <p:cNvPicPr>
            <a:picLocks noChangeAspect="1"/>
          </p:cNvPicPr>
          <p:nvPr/>
        </p:nvPicPr>
        <p:blipFill>
          <a:blip r:embed="rId3"/>
          <a:srcRect t="174" b="174"/>
          <a:stretch>
            <a:fillRect/>
          </a:stretch>
        </p:blipFill>
        <p:spPr>
          <a:xfrm>
            <a:off x="6190488" y="2423160"/>
            <a:ext cx="5321808" cy="3401568"/>
          </a:xfrm>
          <a:prstGeom prst="rect">
            <a:avLst/>
          </a:prstGeom>
        </p:spPr>
      </p:pic>
      <p:sp>
        <p:nvSpPr>
          <p:cNvPr id="11" name="Rounded Rectangle 10"/>
          <p:cNvSpPr/>
          <p:nvPr/>
        </p:nvSpPr>
        <p:spPr>
          <a:xfrm>
            <a:off x="6163055" y="2395728"/>
            <a:ext cx="5376672" cy="3456432"/>
          </a:xfrm>
          <a:prstGeom prst="roundRect">
            <a:avLst/>
          </a:prstGeom>
          <a:noFill/>
          <a:ln w="1905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960120" y="5303520"/>
            <a:ext cx="1920240" cy="402336"/>
          </a:xfrm>
          <a:prstGeom prst="roundRect">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60120" y="5431536"/>
            <a:ext cx="1920240" cy="146304"/>
          </a:xfrm>
          <a:prstGeom prst="rect">
            <a:avLst/>
          </a:prstGeom>
          <a:noFill/>
        </p:spPr>
        <p:txBody>
          <a:bodyPr wrap="none" lIns="0" rIns="0" tIns="0" bIns="0" anchor="t">
            <a:spAutoFit/>
          </a:bodyPr>
          <a:lstStyle/>
          <a:p>
            <a:pPr algn="ctr">
              <a:lnSpc>
                <a:spcPct val="100000"/>
              </a:lnSpc>
            </a:pPr>
            <a:r>
              <a:rPr sz="850" b="1">
                <a:solidFill>
                  <a:srgbClr val="FFFFFF"/>
                </a:solidFill>
                <a:latin typeface="Aptos"/>
              </a:rPr>
              <a:t>1 · CLASS CONTEXT</a:t>
            </a:r>
          </a:p>
        </p:txBody>
      </p:sp>
      <p:sp>
        <p:nvSpPr>
          <p:cNvPr id="14" name="Rounded Rectangle 13"/>
          <p:cNvSpPr/>
          <p:nvPr/>
        </p:nvSpPr>
        <p:spPr>
          <a:xfrm>
            <a:off x="6464808" y="5303520"/>
            <a:ext cx="2057400" cy="402336"/>
          </a:xfrm>
          <a:prstGeom prst="roundRect">
            <a:avLst/>
          </a:prstGeom>
          <a:solidFill>
            <a:srgbClr val="5239F4"/>
          </a:solidFill>
          <a:ln w="12700">
            <a:solidFill>
              <a:srgbClr val="5239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64808" y="5431536"/>
            <a:ext cx="2057400" cy="146304"/>
          </a:xfrm>
          <a:prstGeom prst="rect">
            <a:avLst/>
          </a:prstGeom>
          <a:noFill/>
        </p:spPr>
        <p:txBody>
          <a:bodyPr wrap="none" lIns="0" rIns="0" tIns="0" bIns="0" anchor="t">
            <a:spAutoFit/>
          </a:bodyPr>
          <a:lstStyle/>
          <a:p>
            <a:pPr algn="ctr">
              <a:lnSpc>
                <a:spcPct val="100000"/>
              </a:lnSpc>
            </a:pPr>
            <a:r>
              <a:rPr sz="850" b="1">
                <a:solidFill>
                  <a:srgbClr val="FFFFFF"/>
                </a:solidFill>
                <a:latin typeface="Aptos"/>
              </a:rPr>
              <a:t>2 · MATCHED MATERIALS</a:t>
            </a:r>
          </a:p>
        </p:txBody>
      </p:sp>
      <p:sp>
        <p:nvSpPr>
          <p:cNvPr id="16" name="TextBox 15"/>
          <p:cNvSpPr txBox="1"/>
          <p:nvPr/>
        </p:nvSpPr>
        <p:spPr>
          <a:xfrm>
            <a:off x="731520" y="6007608"/>
            <a:ext cx="5257800" cy="256032"/>
          </a:xfrm>
          <a:prstGeom prst="rect">
            <a:avLst/>
          </a:prstGeom>
          <a:noFill/>
        </p:spPr>
        <p:txBody>
          <a:bodyPr wrap="none" lIns="0" rIns="0" tIns="0" bIns="0" anchor="t">
            <a:spAutoFit/>
          </a:bodyPr>
          <a:lstStyle/>
          <a:p>
            <a:pPr algn="l">
              <a:lnSpc>
                <a:spcPct val="100000"/>
              </a:lnSpc>
            </a:pPr>
            <a:r>
              <a:rPr sz="1100" b="1">
                <a:solidFill>
                  <a:srgbClr val="0B1020"/>
                </a:solidFill>
                <a:latin typeface="Aptos"/>
              </a:rPr>
              <a:t>Import a syllabus → create a class profile → find peer techniques and likely pitfalls.</a:t>
            </a:r>
          </a:p>
        </p:txBody>
      </p:sp>
      <p:sp>
        <p:nvSpPr>
          <p:cNvPr id="17" name="TextBox 16"/>
          <p:cNvSpPr txBox="1"/>
          <p:nvPr/>
        </p:nvSpPr>
        <p:spPr>
          <a:xfrm>
            <a:off x="6236208" y="6007608"/>
            <a:ext cx="5212080" cy="256032"/>
          </a:xfrm>
          <a:prstGeom prst="rect">
            <a:avLst/>
          </a:prstGeom>
          <a:noFill/>
        </p:spPr>
        <p:txBody>
          <a:bodyPr wrap="none" lIns="0" rIns="0" tIns="0" bIns="0" anchor="t">
            <a:spAutoFit/>
          </a:bodyPr>
          <a:lstStyle/>
          <a:p>
            <a:pPr algn="l">
              <a:lnSpc>
                <a:spcPct val="100000"/>
              </a:lnSpc>
            </a:pPr>
            <a:r>
              <a:rPr sz="1100" b="1">
                <a:solidFill>
                  <a:srgbClr val="0B1020"/>
                </a:solidFill>
                <a:latin typeface="Aptos"/>
              </a:rPr>
              <a:t>Rank lesson plans, readings, and projects by subject, level, style, and classroom fit.</a:t>
            </a:r>
          </a:p>
        </p:txBody>
      </p:sp>
      <p:sp>
        <p:nvSpPr>
          <p:cNvPr id="18" name="TextBox 17"/>
          <p:cNvSpPr txBox="1"/>
          <p:nvPr/>
        </p:nvSpPr>
        <p:spPr>
          <a:xfrm>
            <a:off x="640080" y="6510528"/>
            <a:ext cx="2743200" cy="164592"/>
          </a:xfrm>
          <a:prstGeom prst="rect">
            <a:avLst/>
          </a:prstGeom>
          <a:noFill/>
        </p:spPr>
        <p:txBody>
          <a:bodyPr wrap="none" lIns="0" rIns="0" tIns="0" bIns="0" anchor="t">
            <a:spAutoFit/>
          </a:bodyPr>
          <a:lstStyle/>
          <a:p>
            <a:pPr algn="l">
              <a:lnSpc>
                <a:spcPct val="100000"/>
              </a:lnSpc>
            </a:pPr>
            <a:r>
              <a:rPr sz="750" b="1">
                <a:solidFill>
                  <a:srgbClr val="8A93A5"/>
                </a:solidFill>
                <a:latin typeface="Aptos"/>
              </a:rPr>
              <a:t>EDUMATCH · HACKMIT 2026</a:t>
            </a:r>
          </a:p>
        </p:txBody>
      </p:sp>
      <p:sp>
        <p:nvSpPr>
          <p:cNvPr id="19" name="TextBox 18"/>
          <p:cNvSpPr txBox="1"/>
          <p:nvPr/>
        </p:nvSpPr>
        <p:spPr>
          <a:xfrm>
            <a:off x="11018520" y="6473952"/>
            <a:ext cx="502920" cy="201168"/>
          </a:xfrm>
          <a:prstGeom prst="rect">
            <a:avLst/>
          </a:prstGeom>
          <a:noFill/>
        </p:spPr>
        <p:txBody>
          <a:bodyPr wrap="none" lIns="0" rIns="0" tIns="0" bIns="0" anchor="t">
            <a:spAutoFit/>
          </a:bodyPr>
          <a:lstStyle/>
          <a:p>
            <a:pPr algn="r">
              <a:lnSpc>
                <a:spcPct val="100000"/>
              </a:lnSpc>
            </a:pPr>
            <a:r>
              <a:rPr sz="800" b="1">
                <a:solidFill>
                  <a:srgbClr val="8A93A5"/>
                </a:solidFill>
                <a:latin typeface="Aptos"/>
              </a:rP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020"/>
        </a:solidFill>
        <a:effectLst/>
      </p:bgPr>
    </p:bg>
    <p:spTree>
      <p:nvGrpSpPr>
        <p:cNvPr id="1" name=""/>
        <p:cNvGrpSpPr/>
        <p:nvPr/>
      </p:nvGrpSpPr>
      <p:grpSpPr/>
      <p:sp>
        <p:nvSpPr>
          <p:cNvPr id="2" name="Oval 1"/>
          <p:cNvSpPr/>
          <p:nvPr/>
        </p:nvSpPr>
        <p:spPr>
          <a:xfrm>
            <a:off x="621792" y="384048"/>
            <a:ext cx="292608" cy="292608"/>
          </a:xfrm>
          <a:prstGeom prst="ellipse">
            <a:avLst/>
          </a:prstGeom>
          <a:solidFill>
            <a:srgbClr val="D9FF63"/>
          </a:solidFill>
          <a:ln w="12700">
            <a:solidFill>
              <a:srgbClr val="D9FF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16052"/>
            <a:ext cx="292608" cy="182880"/>
          </a:xfrm>
          <a:prstGeom prst="rect">
            <a:avLst/>
          </a:prstGeom>
          <a:noFill/>
        </p:spPr>
        <p:txBody>
          <a:bodyPr wrap="none" lIns="0" rIns="0" tIns="0" bIns="0" anchor="t">
            <a:spAutoFit/>
          </a:bodyPr>
          <a:lstStyle/>
          <a:p>
            <a:pPr algn="ctr">
              <a:lnSpc>
                <a:spcPct val="100000"/>
              </a:lnSpc>
            </a:pPr>
            <a:r>
              <a:rPr sz="900" b="1">
                <a:solidFill>
                  <a:srgbClr val="0B1020"/>
                </a:solidFill>
                <a:latin typeface="Aptos"/>
              </a:rPr>
              <a:t>E</a:t>
            </a:r>
          </a:p>
        </p:txBody>
      </p:sp>
      <p:sp>
        <p:nvSpPr>
          <p:cNvPr id="4" name="TextBox 3"/>
          <p:cNvSpPr txBox="1"/>
          <p:nvPr/>
        </p:nvSpPr>
        <p:spPr>
          <a:xfrm>
            <a:off x="1005840" y="411480"/>
            <a:ext cx="1097280" cy="219456"/>
          </a:xfrm>
          <a:prstGeom prst="rect">
            <a:avLst/>
          </a:prstGeom>
          <a:noFill/>
        </p:spPr>
        <p:txBody>
          <a:bodyPr wrap="none" lIns="0" rIns="0" tIns="0" bIns="0" anchor="t">
            <a:spAutoFit/>
          </a:bodyPr>
          <a:lstStyle/>
          <a:p>
            <a:pPr algn="l">
              <a:lnSpc>
                <a:spcPct val="100000"/>
              </a:lnSpc>
            </a:pPr>
            <a:r>
              <a:rPr sz="1100" b="1">
                <a:solidFill>
                  <a:srgbClr val="FFFFFF"/>
                </a:solidFill>
                <a:latin typeface="Aptos"/>
              </a:rPr>
              <a:t>EduMatch</a:t>
            </a:r>
          </a:p>
        </p:txBody>
      </p:sp>
      <p:sp>
        <p:nvSpPr>
          <p:cNvPr id="5" name="TextBox 4"/>
          <p:cNvSpPr txBox="1"/>
          <p:nvPr/>
        </p:nvSpPr>
        <p:spPr>
          <a:xfrm>
            <a:off x="685800" y="960120"/>
            <a:ext cx="3200400" cy="237744"/>
          </a:xfrm>
          <a:prstGeom prst="rect">
            <a:avLst/>
          </a:prstGeom>
          <a:noFill/>
        </p:spPr>
        <p:txBody>
          <a:bodyPr wrap="none" lIns="0" rIns="0" tIns="0" bIns="0" anchor="t">
            <a:spAutoFit/>
          </a:bodyPr>
          <a:lstStyle/>
          <a:p>
            <a:pPr algn="l">
              <a:lnSpc>
                <a:spcPct val="100000"/>
              </a:lnSpc>
            </a:pPr>
            <a:r>
              <a:rPr sz="900" b="1">
                <a:solidFill>
                  <a:srgbClr val="D9FF63"/>
                </a:solidFill>
                <a:latin typeface="Aptos"/>
              </a:rPr>
              <a:t>TRUST IS A PRODUCT FEATURE</a:t>
            </a:r>
          </a:p>
        </p:txBody>
      </p:sp>
      <p:sp>
        <p:nvSpPr>
          <p:cNvPr id="6" name="TextBox 5"/>
          <p:cNvSpPr txBox="1"/>
          <p:nvPr/>
        </p:nvSpPr>
        <p:spPr>
          <a:xfrm>
            <a:off x="685800" y="1280160"/>
            <a:ext cx="7498079" cy="658368"/>
          </a:xfrm>
          <a:prstGeom prst="rect">
            <a:avLst/>
          </a:prstGeom>
          <a:noFill/>
        </p:spPr>
        <p:txBody>
          <a:bodyPr wrap="none" lIns="0" rIns="0" tIns="0" bIns="0" anchor="t">
            <a:spAutoFit/>
          </a:bodyPr>
          <a:lstStyle/>
          <a:p>
            <a:pPr algn="l">
              <a:lnSpc>
                <a:spcPct val="100000"/>
              </a:lnSpc>
            </a:pPr>
            <a:r>
              <a:rPr sz="3400" b="1">
                <a:solidFill>
                  <a:srgbClr val="FFFFFF"/>
                </a:solidFill>
                <a:latin typeface="Aptos Display"/>
              </a:rPr>
              <a:t>AI that shows its working.</a:t>
            </a:r>
          </a:p>
        </p:txBody>
      </p:sp>
      <p:sp>
        <p:nvSpPr>
          <p:cNvPr id="7" name="TextBox 6"/>
          <p:cNvSpPr txBox="1"/>
          <p:nvPr/>
        </p:nvSpPr>
        <p:spPr>
          <a:xfrm>
            <a:off x="713232" y="1984248"/>
            <a:ext cx="6583680" cy="320040"/>
          </a:xfrm>
          <a:prstGeom prst="rect">
            <a:avLst/>
          </a:prstGeom>
          <a:noFill/>
        </p:spPr>
        <p:txBody>
          <a:bodyPr wrap="none" lIns="0" rIns="0" tIns="0" bIns="0" anchor="t">
            <a:spAutoFit/>
          </a:bodyPr>
          <a:lstStyle/>
          <a:p>
            <a:pPr algn="l">
              <a:lnSpc>
                <a:spcPct val="100000"/>
              </a:lnSpc>
            </a:pPr>
            <a:r>
              <a:rPr sz="1500" b="0">
                <a:solidFill>
                  <a:srgbClr val="A9B1C2"/>
                </a:solidFill>
                <a:latin typeface="Aptos"/>
              </a:rPr>
              <a:t>EduMatch is designed to be useful without pretending certainty.</a:t>
            </a:r>
          </a:p>
        </p:txBody>
      </p:sp>
      <p:sp>
        <p:nvSpPr>
          <p:cNvPr id="8" name="Rounded Rectangle 7"/>
          <p:cNvSpPr/>
          <p:nvPr/>
        </p:nvSpPr>
        <p:spPr>
          <a:xfrm>
            <a:off x="685800" y="2697480"/>
            <a:ext cx="3456432" cy="2697480"/>
          </a:xfrm>
          <a:prstGeom prst="roundRect">
            <a:avLst/>
          </a:prstGeom>
          <a:solidFill>
            <a:srgbClr val="151B2D"/>
          </a:solidFill>
          <a:ln w="12700">
            <a:solidFill>
              <a:srgbClr val="333C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41832" y="2944368"/>
            <a:ext cx="411480" cy="237744"/>
          </a:xfrm>
          <a:prstGeom prst="rect">
            <a:avLst/>
          </a:prstGeom>
          <a:noFill/>
        </p:spPr>
        <p:txBody>
          <a:bodyPr wrap="none" lIns="0" rIns="0" tIns="0" bIns="0" anchor="t">
            <a:spAutoFit/>
          </a:bodyPr>
          <a:lstStyle/>
          <a:p>
            <a:pPr algn="l">
              <a:lnSpc>
                <a:spcPct val="100000"/>
              </a:lnSpc>
            </a:pPr>
            <a:r>
              <a:rPr sz="900" b="1">
                <a:solidFill>
                  <a:srgbClr val="D9FF63"/>
                </a:solidFill>
                <a:latin typeface="Aptos"/>
              </a:rPr>
              <a:t>01</a:t>
            </a:r>
          </a:p>
        </p:txBody>
      </p:sp>
      <p:sp>
        <p:nvSpPr>
          <p:cNvPr id="10" name="TextBox 9"/>
          <p:cNvSpPr txBox="1"/>
          <p:nvPr/>
        </p:nvSpPr>
        <p:spPr>
          <a:xfrm>
            <a:off x="941832" y="3310128"/>
            <a:ext cx="2743200" cy="365760"/>
          </a:xfrm>
          <a:prstGeom prst="rect">
            <a:avLst/>
          </a:prstGeom>
          <a:noFill/>
        </p:spPr>
        <p:txBody>
          <a:bodyPr wrap="none" lIns="0" rIns="0" tIns="0" bIns="0" anchor="t">
            <a:spAutoFit/>
          </a:bodyPr>
          <a:lstStyle/>
          <a:p>
            <a:pPr algn="l">
              <a:lnSpc>
                <a:spcPct val="100000"/>
              </a:lnSpc>
            </a:pPr>
            <a:r>
              <a:rPr sz="1900" b="1">
                <a:solidFill>
                  <a:srgbClr val="FFFFFF"/>
                </a:solidFill>
                <a:latin typeface="Aptos"/>
              </a:rPr>
              <a:t>Explainable ranking</a:t>
            </a:r>
          </a:p>
        </p:txBody>
      </p:sp>
      <p:sp>
        <p:nvSpPr>
          <p:cNvPr id="11" name="TextBox 10"/>
          <p:cNvSpPr txBox="1"/>
          <p:nvPr/>
        </p:nvSpPr>
        <p:spPr>
          <a:xfrm>
            <a:off x="941832" y="3703320"/>
            <a:ext cx="2743200" cy="256032"/>
          </a:xfrm>
          <a:prstGeom prst="rect">
            <a:avLst/>
          </a:prstGeom>
          <a:noFill/>
        </p:spPr>
        <p:txBody>
          <a:bodyPr wrap="none" lIns="0" rIns="0" tIns="0" bIns="0" anchor="t">
            <a:spAutoFit/>
          </a:bodyPr>
          <a:lstStyle/>
          <a:p>
            <a:pPr algn="l">
              <a:lnSpc>
                <a:spcPct val="100000"/>
              </a:lnSpc>
            </a:pPr>
            <a:r>
              <a:rPr sz="1100" b="0">
                <a:solidFill>
                  <a:srgbClr val="A9B1C2"/>
                </a:solidFill>
                <a:latin typeface="Aptos"/>
              </a:rPr>
              <a:t>Six weighted factors</a:t>
            </a:r>
          </a:p>
        </p:txBody>
      </p:sp>
      <p:sp>
        <p:nvSpPr>
          <p:cNvPr id="12" name="Rounded Rectangle 11"/>
          <p:cNvSpPr/>
          <p:nvPr/>
        </p:nvSpPr>
        <p:spPr>
          <a:xfrm>
            <a:off x="941832" y="4151376"/>
            <a:ext cx="2423160" cy="109728"/>
          </a:xfrm>
          <a:prstGeom prst="roundRect">
            <a:avLst/>
          </a:prstGeom>
          <a:solidFill>
            <a:srgbClr val="2A3248"/>
          </a:solidFill>
          <a:ln w="12700">
            <a:solidFill>
              <a:srgbClr val="2A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941832" y="4151376"/>
            <a:ext cx="2423160" cy="109728"/>
          </a:xfrm>
          <a:prstGeom prst="roundRect">
            <a:avLst/>
          </a:prstGeom>
          <a:solidFill>
            <a:srgbClr val="5239F4"/>
          </a:solidFill>
          <a:ln w="12700">
            <a:solidFill>
              <a:srgbClr val="5239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41832" y="4279392"/>
            <a:ext cx="2194560" cy="109728"/>
          </a:xfrm>
          <a:prstGeom prst="rect">
            <a:avLst/>
          </a:prstGeom>
          <a:noFill/>
        </p:spPr>
        <p:txBody>
          <a:bodyPr wrap="none" lIns="0" rIns="0" tIns="0" bIns="0" anchor="t">
            <a:spAutoFit/>
          </a:bodyPr>
          <a:lstStyle/>
          <a:p>
            <a:pPr algn="l">
              <a:lnSpc>
                <a:spcPct val="100000"/>
              </a:lnSpc>
            </a:pPr>
            <a:r>
              <a:rPr sz="680" b="0">
                <a:solidFill>
                  <a:srgbClr val="8E98AE"/>
                </a:solidFill>
                <a:latin typeface="Aptos"/>
              </a:rPr>
              <a:t>Teaching philosophy</a:t>
            </a:r>
          </a:p>
        </p:txBody>
      </p:sp>
      <p:sp>
        <p:nvSpPr>
          <p:cNvPr id="15" name="Rounded Rectangle 14"/>
          <p:cNvSpPr/>
          <p:nvPr/>
        </p:nvSpPr>
        <p:spPr>
          <a:xfrm>
            <a:off x="941832" y="4416552"/>
            <a:ext cx="2423160" cy="109728"/>
          </a:xfrm>
          <a:prstGeom prst="roundRect">
            <a:avLst/>
          </a:prstGeom>
          <a:solidFill>
            <a:srgbClr val="2A3248"/>
          </a:solidFill>
          <a:ln w="12700">
            <a:solidFill>
              <a:srgbClr val="2A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941832" y="4416552"/>
            <a:ext cx="1615440" cy="109728"/>
          </a:xfrm>
          <a:prstGeom prst="roundRect">
            <a:avLst/>
          </a:prstGeom>
          <a:solidFill>
            <a:srgbClr val="5CD6A8"/>
          </a:solidFill>
          <a:ln w="12700">
            <a:solidFill>
              <a:srgbClr val="5CD6A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41832" y="4544568"/>
            <a:ext cx="2194560" cy="109728"/>
          </a:xfrm>
          <a:prstGeom prst="rect">
            <a:avLst/>
          </a:prstGeom>
          <a:noFill/>
        </p:spPr>
        <p:txBody>
          <a:bodyPr wrap="none" lIns="0" rIns="0" tIns="0" bIns="0" anchor="t">
            <a:spAutoFit/>
          </a:bodyPr>
          <a:lstStyle/>
          <a:p>
            <a:pPr algn="l">
              <a:lnSpc>
                <a:spcPct val="100000"/>
              </a:lnSpc>
            </a:pPr>
            <a:r>
              <a:rPr sz="680" b="0">
                <a:solidFill>
                  <a:srgbClr val="8E98AE"/>
                </a:solidFill>
                <a:latin typeface="Aptos"/>
              </a:rPr>
              <a:t>Expertise</a:t>
            </a:r>
          </a:p>
        </p:txBody>
      </p:sp>
      <p:sp>
        <p:nvSpPr>
          <p:cNvPr id="18" name="Rounded Rectangle 17"/>
          <p:cNvSpPr/>
          <p:nvPr/>
        </p:nvSpPr>
        <p:spPr>
          <a:xfrm>
            <a:off x="941832" y="4681728"/>
            <a:ext cx="2423160" cy="109728"/>
          </a:xfrm>
          <a:prstGeom prst="roundRect">
            <a:avLst/>
          </a:prstGeom>
          <a:solidFill>
            <a:srgbClr val="2A3248"/>
          </a:solidFill>
          <a:ln w="12700">
            <a:solidFill>
              <a:srgbClr val="2A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941832" y="4681728"/>
            <a:ext cx="2423160" cy="109728"/>
          </a:xfrm>
          <a:prstGeom prst="roundRect">
            <a:avLst/>
          </a:prstGeom>
          <a:solidFill>
            <a:srgbClr val="70B7FF"/>
          </a:solidFill>
          <a:ln w="12700">
            <a:solidFill>
              <a:srgbClr val="70B7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41832" y="4809744"/>
            <a:ext cx="2194560" cy="109728"/>
          </a:xfrm>
          <a:prstGeom prst="rect">
            <a:avLst/>
          </a:prstGeom>
          <a:noFill/>
        </p:spPr>
        <p:txBody>
          <a:bodyPr wrap="none" lIns="0" rIns="0" tIns="0" bIns="0" anchor="t">
            <a:spAutoFit/>
          </a:bodyPr>
          <a:lstStyle/>
          <a:p>
            <a:pPr algn="l">
              <a:lnSpc>
                <a:spcPct val="100000"/>
              </a:lnSpc>
            </a:pPr>
            <a:r>
              <a:rPr sz="680" b="0">
                <a:solidFill>
                  <a:srgbClr val="8E98AE"/>
                </a:solidFill>
                <a:latin typeface="Aptos"/>
              </a:rPr>
              <a:t>Education + learner level</a:t>
            </a:r>
          </a:p>
        </p:txBody>
      </p:sp>
      <p:sp>
        <p:nvSpPr>
          <p:cNvPr id="21" name="Rounded Rectangle 20"/>
          <p:cNvSpPr/>
          <p:nvPr/>
        </p:nvSpPr>
        <p:spPr>
          <a:xfrm>
            <a:off x="941832" y="4946904"/>
            <a:ext cx="2423160" cy="109728"/>
          </a:xfrm>
          <a:prstGeom prst="roundRect">
            <a:avLst/>
          </a:prstGeom>
          <a:solidFill>
            <a:srgbClr val="2A3248"/>
          </a:solidFill>
          <a:ln w="12700">
            <a:solidFill>
              <a:srgbClr val="2A324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ounded Rectangle 21"/>
          <p:cNvSpPr/>
          <p:nvPr/>
        </p:nvSpPr>
        <p:spPr>
          <a:xfrm>
            <a:off x="941832" y="4946904"/>
            <a:ext cx="1615440" cy="109728"/>
          </a:xfrm>
          <a:prstGeom prst="roundRect">
            <a:avLst/>
          </a:prstGeom>
          <a:solidFill>
            <a:srgbClr val="FFBE5C"/>
          </a:solidFill>
          <a:ln w="12700">
            <a:solidFill>
              <a:srgbClr val="FFBE5C"/>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941832" y="5074920"/>
            <a:ext cx="2194560" cy="109728"/>
          </a:xfrm>
          <a:prstGeom prst="rect">
            <a:avLst/>
          </a:prstGeom>
          <a:noFill/>
        </p:spPr>
        <p:txBody>
          <a:bodyPr wrap="none" lIns="0" rIns="0" tIns="0" bIns="0" anchor="t">
            <a:spAutoFit/>
          </a:bodyPr>
          <a:lstStyle/>
          <a:p>
            <a:pPr algn="l">
              <a:lnSpc>
                <a:spcPct val="100000"/>
              </a:lnSpc>
            </a:pPr>
            <a:r>
              <a:rPr sz="680" b="0">
                <a:solidFill>
                  <a:srgbClr val="8E98AE"/>
                </a:solidFill>
                <a:latin typeface="Aptos"/>
              </a:rPr>
              <a:t>Location + class size</a:t>
            </a:r>
          </a:p>
        </p:txBody>
      </p:sp>
      <p:sp>
        <p:nvSpPr>
          <p:cNvPr id="24" name="Rounded Rectangle 23"/>
          <p:cNvSpPr/>
          <p:nvPr/>
        </p:nvSpPr>
        <p:spPr>
          <a:xfrm>
            <a:off x="4507992" y="2697480"/>
            <a:ext cx="3456432" cy="2697480"/>
          </a:xfrm>
          <a:prstGeom prst="roundRect">
            <a:avLst/>
          </a:prstGeom>
          <a:solidFill>
            <a:srgbClr val="151B2D"/>
          </a:solidFill>
          <a:ln w="12700">
            <a:solidFill>
              <a:srgbClr val="333C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764024" y="2944368"/>
            <a:ext cx="411480" cy="237744"/>
          </a:xfrm>
          <a:prstGeom prst="rect">
            <a:avLst/>
          </a:prstGeom>
          <a:noFill/>
        </p:spPr>
        <p:txBody>
          <a:bodyPr wrap="none" lIns="0" rIns="0" tIns="0" bIns="0" anchor="t">
            <a:spAutoFit/>
          </a:bodyPr>
          <a:lstStyle/>
          <a:p>
            <a:pPr algn="l">
              <a:lnSpc>
                <a:spcPct val="100000"/>
              </a:lnSpc>
            </a:pPr>
            <a:r>
              <a:rPr sz="900" b="1">
                <a:solidFill>
                  <a:srgbClr val="D9FF63"/>
                </a:solidFill>
                <a:latin typeface="Aptos"/>
              </a:rPr>
              <a:t>02</a:t>
            </a:r>
          </a:p>
        </p:txBody>
      </p:sp>
      <p:sp>
        <p:nvSpPr>
          <p:cNvPr id="26" name="TextBox 25"/>
          <p:cNvSpPr txBox="1"/>
          <p:nvPr/>
        </p:nvSpPr>
        <p:spPr>
          <a:xfrm>
            <a:off x="4764024" y="3310128"/>
            <a:ext cx="2743200" cy="365760"/>
          </a:xfrm>
          <a:prstGeom prst="rect">
            <a:avLst/>
          </a:prstGeom>
          <a:noFill/>
        </p:spPr>
        <p:txBody>
          <a:bodyPr wrap="none" lIns="0" rIns="0" tIns="0" bIns="0" anchor="t">
            <a:spAutoFit/>
          </a:bodyPr>
          <a:lstStyle/>
          <a:p>
            <a:pPr algn="l">
              <a:lnSpc>
                <a:spcPct val="100000"/>
              </a:lnSpc>
            </a:pPr>
            <a:r>
              <a:rPr sz="1900" b="1">
                <a:solidFill>
                  <a:srgbClr val="FFFFFF"/>
                </a:solidFill>
                <a:latin typeface="Aptos"/>
              </a:rPr>
              <a:t>Grounded mentors</a:t>
            </a:r>
          </a:p>
        </p:txBody>
      </p:sp>
      <p:sp>
        <p:nvSpPr>
          <p:cNvPr id="27" name="TextBox 26"/>
          <p:cNvSpPr txBox="1"/>
          <p:nvPr/>
        </p:nvSpPr>
        <p:spPr>
          <a:xfrm>
            <a:off x="4764024" y="3703320"/>
            <a:ext cx="2743200" cy="256032"/>
          </a:xfrm>
          <a:prstGeom prst="rect">
            <a:avLst/>
          </a:prstGeom>
          <a:noFill/>
        </p:spPr>
        <p:txBody>
          <a:bodyPr wrap="none" lIns="0" rIns="0" tIns="0" bIns="0" anchor="t">
            <a:spAutoFit/>
          </a:bodyPr>
          <a:lstStyle/>
          <a:p>
            <a:pPr algn="l">
              <a:lnSpc>
                <a:spcPct val="100000"/>
              </a:lnSpc>
            </a:pPr>
            <a:r>
              <a:rPr sz="1100" b="0">
                <a:solidFill>
                  <a:srgbClr val="A9B1C2"/>
                </a:solidFill>
                <a:latin typeface="Aptos"/>
              </a:rPr>
              <a:t>Claims carry citations</a:t>
            </a:r>
          </a:p>
        </p:txBody>
      </p:sp>
      <p:sp>
        <p:nvSpPr>
          <p:cNvPr id="28" name="Rounded Rectangle 27"/>
          <p:cNvSpPr/>
          <p:nvPr/>
        </p:nvSpPr>
        <p:spPr>
          <a:xfrm>
            <a:off x="4764024" y="4160520"/>
            <a:ext cx="2743200" cy="621792"/>
          </a:xfrm>
          <a:prstGeom prst="roundRect">
            <a:avLst/>
          </a:prstGeom>
          <a:solidFill>
            <a:srgbClr val="5239F4"/>
          </a:solidFill>
          <a:ln w="12700">
            <a:solidFill>
              <a:srgbClr val="5239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928616" y="4315968"/>
            <a:ext cx="2423160" cy="228600"/>
          </a:xfrm>
          <a:prstGeom prst="rect">
            <a:avLst/>
          </a:prstGeom>
          <a:noFill/>
        </p:spPr>
        <p:txBody>
          <a:bodyPr wrap="none" lIns="0" rIns="0" tIns="0" bIns="0" anchor="t">
            <a:spAutoFit/>
          </a:bodyPr>
          <a:lstStyle/>
          <a:p>
            <a:pPr algn="l">
              <a:lnSpc>
                <a:spcPct val="100000"/>
              </a:lnSpc>
            </a:pPr>
            <a:r>
              <a:rPr sz="1000" b="1">
                <a:solidFill>
                  <a:srgbClr val="FFFFFF"/>
                </a:solidFill>
                <a:latin typeface="Aptos"/>
              </a:rPr>
              <a:t>“Open every lecture with broken code.”</a:t>
            </a:r>
          </a:p>
        </p:txBody>
      </p:sp>
      <p:sp>
        <p:nvSpPr>
          <p:cNvPr id="30" name="TextBox 29"/>
          <p:cNvSpPr txBox="1"/>
          <p:nvPr/>
        </p:nvSpPr>
        <p:spPr>
          <a:xfrm>
            <a:off x="4892040" y="4937760"/>
            <a:ext cx="2377440" cy="164592"/>
          </a:xfrm>
          <a:prstGeom prst="rect">
            <a:avLst/>
          </a:prstGeom>
          <a:noFill/>
        </p:spPr>
        <p:txBody>
          <a:bodyPr wrap="none" lIns="0" rIns="0" tIns="0" bIns="0" anchor="t">
            <a:spAutoFit/>
          </a:bodyPr>
          <a:lstStyle/>
          <a:p>
            <a:pPr algn="l">
              <a:lnSpc>
                <a:spcPct val="100000"/>
              </a:lnSpc>
            </a:pPr>
            <a:r>
              <a:rPr sz="800" b="0">
                <a:solidFill>
                  <a:srgbClr val="8E98AE"/>
                </a:solidFill>
                <a:latin typeface="Aptos"/>
              </a:rPr>
              <a:t>↳ Guest lecture · 09:51</a:t>
            </a:r>
          </a:p>
        </p:txBody>
      </p:sp>
      <p:sp>
        <p:nvSpPr>
          <p:cNvPr id="31" name="Rounded Rectangle 30"/>
          <p:cNvSpPr/>
          <p:nvPr/>
        </p:nvSpPr>
        <p:spPr>
          <a:xfrm>
            <a:off x="8330183" y="2697480"/>
            <a:ext cx="3456432" cy="2697480"/>
          </a:xfrm>
          <a:prstGeom prst="roundRect">
            <a:avLst/>
          </a:prstGeom>
          <a:solidFill>
            <a:srgbClr val="151B2D"/>
          </a:solidFill>
          <a:ln w="12700">
            <a:solidFill>
              <a:srgbClr val="333C56"/>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8586215" y="2944368"/>
            <a:ext cx="411480" cy="237744"/>
          </a:xfrm>
          <a:prstGeom prst="rect">
            <a:avLst/>
          </a:prstGeom>
          <a:noFill/>
        </p:spPr>
        <p:txBody>
          <a:bodyPr wrap="none" lIns="0" rIns="0" tIns="0" bIns="0" anchor="t">
            <a:spAutoFit/>
          </a:bodyPr>
          <a:lstStyle/>
          <a:p>
            <a:pPr algn="l">
              <a:lnSpc>
                <a:spcPct val="100000"/>
              </a:lnSpc>
            </a:pPr>
            <a:r>
              <a:rPr sz="900" b="1">
                <a:solidFill>
                  <a:srgbClr val="D9FF63"/>
                </a:solidFill>
                <a:latin typeface="Aptos"/>
              </a:rPr>
              <a:t>03</a:t>
            </a:r>
          </a:p>
        </p:txBody>
      </p:sp>
      <p:sp>
        <p:nvSpPr>
          <p:cNvPr id="33" name="TextBox 32"/>
          <p:cNvSpPr txBox="1"/>
          <p:nvPr/>
        </p:nvSpPr>
        <p:spPr>
          <a:xfrm>
            <a:off x="8586215" y="3310128"/>
            <a:ext cx="2743200" cy="365760"/>
          </a:xfrm>
          <a:prstGeom prst="rect">
            <a:avLst/>
          </a:prstGeom>
          <a:noFill/>
        </p:spPr>
        <p:txBody>
          <a:bodyPr wrap="none" lIns="0" rIns="0" tIns="0" bIns="0" anchor="t">
            <a:spAutoFit/>
          </a:bodyPr>
          <a:lstStyle/>
          <a:p>
            <a:pPr algn="l">
              <a:lnSpc>
                <a:spcPct val="100000"/>
              </a:lnSpc>
            </a:pPr>
            <a:r>
              <a:rPr sz="1900" b="1">
                <a:solidFill>
                  <a:srgbClr val="FFFFFF"/>
                </a:solidFill>
                <a:latin typeface="Aptos"/>
              </a:rPr>
              <a:t>Bounded by design</a:t>
            </a:r>
          </a:p>
        </p:txBody>
      </p:sp>
      <p:sp>
        <p:nvSpPr>
          <p:cNvPr id="34" name="TextBox 33"/>
          <p:cNvSpPr txBox="1"/>
          <p:nvPr/>
        </p:nvSpPr>
        <p:spPr>
          <a:xfrm>
            <a:off x="8586215" y="3703320"/>
            <a:ext cx="2743200" cy="256032"/>
          </a:xfrm>
          <a:prstGeom prst="rect">
            <a:avLst/>
          </a:prstGeom>
          <a:noFill/>
        </p:spPr>
        <p:txBody>
          <a:bodyPr wrap="none" lIns="0" rIns="0" tIns="0" bIns="0" anchor="t">
            <a:spAutoFit/>
          </a:bodyPr>
          <a:lstStyle/>
          <a:p>
            <a:pPr algn="l">
              <a:lnSpc>
                <a:spcPct val="100000"/>
              </a:lnSpc>
            </a:pPr>
            <a:r>
              <a:rPr sz="1100" b="0">
                <a:solidFill>
                  <a:srgbClr val="A9B1C2"/>
                </a:solidFill>
                <a:latin typeface="Aptos"/>
              </a:rPr>
              <a:t>No source? It says so.</a:t>
            </a:r>
          </a:p>
        </p:txBody>
      </p:sp>
      <p:sp>
        <p:nvSpPr>
          <p:cNvPr id="35" name="TextBox 34"/>
          <p:cNvSpPr txBox="1"/>
          <p:nvPr/>
        </p:nvSpPr>
        <p:spPr>
          <a:xfrm>
            <a:off x="8604504" y="4187952"/>
            <a:ext cx="2743200" cy="228600"/>
          </a:xfrm>
          <a:prstGeom prst="rect">
            <a:avLst/>
          </a:prstGeom>
          <a:noFill/>
        </p:spPr>
        <p:txBody>
          <a:bodyPr wrap="none" lIns="0" rIns="0" tIns="0" bIns="0" anchor="t">
            <a:spAutoFit/>
          </a:bodyPr>
          <a:lstStyle/>
          <a:p>
            <a:pPr algn="l">
              <a:lnSpc>
                <a:spcPct val="100000"/>
              </a:lnSpc>
            </a:pPr>
            <a:r>
              <a:rPr sz="1050" b="0">
                <a:solidFill>
                  <a:srgbClr val="FFFFFF"/>
                </a:solidFill>
                <a:latin typeface="Aptos"/>
              </a:rPr>
              <a:t>✓ Refuses unsupported answers</a:t>
            </a:r>
          </a:p>
        </p:txBody>
      </p:sp>
      <p:sp>
        <p:nvSpPr>
          <p:cNvPr id="36" name="TextBox 35"/>
          <p:cNvSpPr txBox="1"/>
          <p:nvPr/>
        </p:nvSpPr>
        <p:spPr>
          <a:xfrm>
            <a:off x="8604504" y="4553712"/>
            <a:ext cx="2743200" cy="228600"/>
          </a:xfrm>
          <a:prstGeom prst="rect">
            <a:avLst/>
          </a:prstGeom>
          <a:noFill/>
        </p:spPr>
        <p:txBody>
          <a:bodyPr wrap="none" lIns="0" rIns="0" tIns="0" bIns="0" anchor="t">
            <a:spAutoFit/>
          </a:bodyPr>
          <a:lstStyle/>
          <a:p>
            <a:pPr algn="l">
              <a:lnSpc>
                <a:spcPct val="100000"/>
              </a:lnSpc>
            </a:pPr>
            <a:r>
              <a:rPr sz="1050" b="0">
                <a:solidFill>
                  <a:srgbClr val="FFFFFF"/>
                </a:solidFill>
                <a:latin typeface="Aptos"/>
              </a:rPr>
              <a:t>✓ Marks outside research</a:t>
            </a:r>
          </a:p>
        </p:txBody>
      </p:sp>
      <p:sp>
        <p:nvSpPr>
          <p:cNvPr id="37" name="TextBox 36"/>
          <p:cNvSpPr txBox="1"/>
          <p:nvPr/>
        </p:nvSpPr>
        <p:spPr>
          <a:xfrm>
            <a:off x="8604504" y="4919472"/>
            <a:ext cx="2743200" cy="228600"/>
          </a:xfrm>
          <a:prstGeom prst="rect">
            <a:avLst/>
          </a:prstGeom>
          <a:noFill/>
        </p:spPr>
        <p:txBody>
          <a:bodyPr wrap="none" lIns="0" rIns="0" tIns="0" bIns="0" anchor="t">
            <a:spAutoFit/>
          </a:bodyPr>
          <a:lstStyle/>
          <a:p>
            <a:pPr algn="l">
              <a:lnSpc>
                <a:spcPct val="100000"/>
              </a:lnSpc>
            </a:pPr>
            <a:r>
              <a:rPr sz="1050" b="0">
                <a:solidFill>
                  <a:srgbClr val="FFFFFF"/>
                </a:solidFill>
                <a:latin typeface="Aptos"/>
              </a:rPr>
              <a:t>✓ City-level location only</a:t>
            </a:r>
          </a:p>
        </p:txBody>
      </p:sp>
      <p:sp>
        <p:nvSpPr>
          <p:cNvPr id="38" name="Rounded Rectangle 37"/>
          <p:cNvSpPr/>
          <p:nvPr/>
        </p:nvSpPr>
        <p:spPr>
          <a:xfrm>
            <a:off x="685800" y="5760720"/>
            <a:ext cx="10835640" cy="438912"/>
          </a:xfrm>
          <a:prstGeom prst="roundRect">
            <a:avLst/>
          </a:prstGeom>
          <a:solidFill>
            <a:srgbClr val="D9FF63"/>
          </a:solidFill>
          <a:ln w="12700">
            <a:solidFill>
              <a:srgbClr val="D9FF6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914400" y="5888736"/>
            <a:ext cx="10378440" cy="182880"/>
          </a:xfrm>
          <a:prstGeom prst="rect">
            <a:avLst/>
          </a:prstGeom>
          <a:noFill/>
        </p:spPr>
        <p:txBody>
          <a:bodyPr wrap="none" lIns="0" rIns="0" tIns="0" bIns="0" anchor="t">
            <a:spAutoFit/>
          </a:bodyPr>
          <a:lstStyle/>
          <a:p>
            <a:pPr algn="ctr">
              <a:lnSpc>
                <a:spcPct val="100000"/>
              </a:lnSpc>
            </a:pPr>
            <a:r>
              <a:rPr sz="1300" b="1">
                <a:solidFill>
                  <a:srgbClr val="0B1020"/>
                </a:solidFill>
                <a:latin typeface="Aptos"/>
              </a:rPr>
              <a:t>The user can inspect the score, inspect the source, and inspect the system’s limits.</a:t>
            </a:r>
          </a:p>
        </p:txBody>
      </p:sp>
      <p:sp>
        <p:nvSpPr>
          <p:cNvPr id="40" name="TextBox 39"/>
          <p:cNvSpPr txBox="1"/>
          <p:nvPr/>
        </p:nvSpPr>
        <p:spPr>
          <a:xfrm>
            <a:off x="640080" y="6510528"/>
            <a:ext cx="2743200" cy="164592"/>
          </a:xfrm>
          <a:prstGeom prst="rect">
            <a:avLst/>
          </a:prstGeom>
          <a:noFill/>
        </p:spPr>
        <p:txBody>
          <a:bodyPr wrap="none" lIns="0" rIns="0" tIns="0" bIns="0" anchor="t">
            <a:spAutoFit/>
          </a:bodyPr>
          <a:lstStyle/>
          <a:p>
            <a:pPr algn="l">
              <a:lnSpc>
                <a:spcPct val="100000"/>
              </a:lnSpc>
            </a:pPr>
            <a:r>
              <a:rPr sz="750" b="1">
                <a:solidFill>
                  <a:srgbClr val="AAB2C2"/>
                </a:solidFill>
                <a:latin typeface="Aptos"/>
              </a:rPr>
              <a:t>EDUMATCH · HACKMIT 2026</a:t>
            </a:r>
          </a:p>
        </p:txBody>
      </p:sp>
      <p:sp>
        <p:nvSpPr>
          <p:cNvPr id="41" name="TextBox 40"/>
          <p:cNvSpPr txBox="1"/>
          <p:nvPr/>
        </p:nvSpPr>
        <p:spPr>
          <a:xfrm>
            <a:off x="11018520" y="6473952"/>
            <a:ext cx="502920" cy="201168"/>
          </a:xfrm>
          <a:prstGeom prst="rect">
            <a:avLst/>
          </a:prstGeom>
          <a:noFill/>
        </p:spPr>
        <p:txBody>
          <a:bodyPr wrap="none" lIns="0" rIns="0" tIns="0" bIns="0" anchor="t">
            <a:spAutoFit/>
          </a:bodyPr>
          <a:lstStyle/>
          <a:p>
            <a:pPr algn="r">
              <a:lnSpc>
                <a:spcPct val="100000"/>
              </a:lnSpc>
            </a:pPr>
            <a:r>
              <a:rPr sz="800" b="1">
                <a:solidFill>
                  <a:srgbClr val="AAB2C2"/>
                </a:solidFill>
                <a:latin typeface="Aptos"/>
              </a:rP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7F8FC"/>
        </a:solidFill>
        <a:effectLst/>
      </p:bgPr>
    </p:bg>
    <p:spTree>
      <p:nvGrpSpPr>
        <p:cNvPr id="1" name=""/>
        <p:cNvGrpSpPr/>
        <p:nvPr/>
      </p:nvGrpSpPr>
      <p:grpSpPr/>
      <p:sp>
        <p:nvSpPr>
          <p:cNvPr id="2" name="Oval 1"/>
          <p:cNvSpPr/>
          <p:nvPr/>
        </p:nvSpPr>
        <p:spPr>
          <a:xfrm>
            <a:off x="621792" y="384048"/>
            <a:ext cx="292608" cy="292608"/>
          </a:xfrm>
          <a:prstGeom prst="ellipse">
            <a:avLst/>
          </a:prstGeom>
          <a:solidFill>
            <a:srgbClr val="5239F4"/>
          </a:solidFill>
          <a:ln w="12700">
            <a:solidFill>
              <a:srgbClr val="5239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621792" y="416052"/>
            <a:ext cx="292608" cy="182880"/>
          </a:xfrm>
          <a:prstGeom prst="rect">
            <a:avLst/>
          </a:prstGeom>
          <a:noFill/>
        </p:spPr>
        <p:txBody>
          <a:bodyPr wrap="none" lIns="0" rIns="0" tIns="0" bIns="0" anchor="t">
            <a:spAutoFit/>
          </a:bodyPr>
          <a:lstStyle/>
          <a:p>
            <a:pPr algn="ctr">
              <a:lnSpc>
                <a:spcPct val="100000"/>
              </a:lnSpc>
            </a:pPr>
            <a:r>
              <a:rPr sz="900" b="1">
                <a:solidFill>
                  <a:srgbClr val="FFFFFF"/>
                </a:solidFill>
                <a:latin typeface="Aptos"/>
              </a:rPr>
              <a:t>E</a:t>
            </a:r>
          </a:p>
        </p:txBody>
      </p:sp>
      <p:sp>
        <p:nvSpPr>
          <p:cNvPr id="4" name="TextBox 3"/>
          <p:cNvSpPr txBox="1"/>
          <p:nvPr/>
        </p:nvSpPr>
        <p:spPr>
          <a:xfrm>
            <a:off x="1005840" y="411480"/>
            <a:ext cx="1097280" cy="219456"/>
          </a:xfrm>
          <a:prstGeom prst="rect">
            <a:avLst/>
          </a:prstGeom>
          <a:noFill/>
        </p:spPr>
        <p:txBody>
          <a:bodyPr wrap="none" lIns="0" rIns="0" tIns="0" bIns="0" anchor="t">
            <a:spAutoFit/>
          </a:bodyPr>
          <a:lstStyle/>
          <a:p>
            <a:pPr algn="l">
              <a:lnSpc>
                <a:spcPct val="100000"/>
              </a:lnSpc>
            </a:pPr>
            <a:r>
              <a:rPr sz="1100" b="1">
                <a:solidFill>
                  <a:srgbClr val="0B1020"/>
                </a:solidFill>
                <a:latin typeface="Aptos"/>
              </a:rPr>
              <a:t>EduMatch</a:t>
            </a:r>
          </a:p>
        </p:txBody>
      </p:sp>
      <p:sp>
        <p:nvSpPr>
          <p:cNvPr id="5" name="TextBox 4"/>
          <p:cNvSpPr txBox="1"/>
          <p:nvPr/>
        </p:nvSpPr>
        <p:spPr>
          <a:xfrm>
            <a:off x="685800" y="950976"/>
            <a:ext cx="3200400" cy="237744"/>
          </a:xfrm>
          <a:prstGeom prst="rect">
            <a:avLst/>
          </a:prstGeom>
          <a:noFill/>
        </p:spPr>
        <p:txBody>
          <a:bodyPr wrap="none" lIns="0" rIns="0" tIns="0" bIns="0" anchor="t">
            <a:spAutoFit/>
          </a:bodyPr>
          <a:lstStyle/>
          <a:p>
            <a:pPr algn="l">
              <a:lnSpc>
                <a:spcPct val="100000"/>
              </a:lnSpc>
            </a:pPr>
            <a:r>
              <a:rPr sz="900" b="1">
                <a:solidFill>
                  <a:srgbClr val="5239F4"/>
                </a:solidFill>
                <a:latin typeface="Aptos"/>
              </a:rPr>
              <a:t>BUILT AND LIVE</a:t>
            </a:r>
          </a:p>
        </p:txBody>
      </p:sp>
      <p:sp>
        <p:nvSpPr>
          <p:cNvPr id="6" name="TextBox 5"/>
          <p:cNvSpPr txBox="1"/>
          <p:nvPr/>
        </p:nvSpPr>
        <p:spPr>
          <a:xfrm>
            <a:off x="685800" y="1261872"/>
            <a:ext cx="10698480" cy="658368"/>
          </a:xfrm>
          <a:prstGeom prst="rect">
            <a:avLst/>
          </a:prstGeom>
          <a:noFill/>
        </p:spPr>
        <p:txBody>
          <a:bodyPr wrap="none" lIns="0" rIns="0" tIns="0" bIns="0" anchor="t">
            <a:spAutoFit/>
          </a:bodyPr>
          <a:lstStyle/>
          <a:p>
            <a:pPr algn="l">
              <a:lnSpc>
                <a:spcPct val="100000"/>
              </a:lnSpc>
            </a:pPr>
            <a:r>
              <a:rPr sz="3100" b="1">
                <a:solidFill>
                  <a:srgbClr val="0B1020"/>
                </a:solidFill>
                <a:latin typeface="Aptos Display"/>
              </a:rPr>
              <a:t>A production-shaped prototype, not a mockup.</a:t>
            </a:r>
          </a:p>
        </p:txBody>
      </p:sp>
      <p:sp>
        <p:nvSpPr>
          <p:cNvPr id="7" name="Rounded Rectangle 6"/>
          <p:cNvSpPr/>
          <p:nvPr/>
        </p:nvSpPr>
        <p:spPr>
          <a:xfrm>
            <a:off x="685800" y="2176272"/>
            <a:ext cx="2468880" cy="1097280"/>
          </a:xfrm>
          <a:prstGeom prst="roundRect">
            <a:avLst/>
          </a:prstGeom>
          <a:solidFill>
            <a:srgbClr val="FFFFFF"/>
          </a:solidFill>
          <a:ln w="1270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05256" y="2395728"/>
            <a:ext cx="1965960" cy="438912"/>
          </a:xfrm>
          <a:prstGeom prst="rect">
            <a:avLst/>
          </a:prstGeom>
          <a:noFill/>
        </p:spPr>
        <p:txBody>
          <a:bodyPr wrap="none" lIns="0" rIns="0" tIns="0" bIns="0" anchor="t">
            <a:spAutoFit/>
          </a:bodyPr>
          <a:lstStyle/>
          <a:p>
            <a:pPr algn="l">
              <a:lnSpc>
                <a:spcPct val="100000"/>
              </a:lnSpc>
            </a:pPr>
            <a:r>
              <a:rPr sz="2600" b="1">
                <a:solidFill>
                  <a:srgbClr val="0B1020"/>
                </a:solidFill>
                <a:latin typeface="Aptos"/>
              </a:rPr>
              <a:t>1,000</a:t>
            </a:r>
          </a:p>
        </p:txBody>
      </p:sp>
      <p:sp>
        <p:nvSpPr>
          <p:cNvPr id="9" name="TextBox 8"/>
          <p:cNvSpPr txBox="1"/>
          <p:nvPr/>
        </p:nvSpPr>
        <p:spPr>
          <a:xfrm>
            <a:off x="905256" y="2880360"/>
            <a:ext cx="1965960" cy="201168"/>
          </a:xfrm>
          <a:prstGeom prst="rect">
            <a:avLst/>
          </a:prstGeom>
          <a:noFill/>
        </p:spPr>
        <p:txBody>
          <a:bodyPr wrap="none" lIns="0" rIns="0" tIns="0" bIns="0" anchor="t">
            <a:spAutoFit/>
          </a:bodyPr>
          <a:lstStyle/>
          <a:p>
            <a:pPr algn="l">
              <a:lnSpc>
                <a:spcPct val="100000"/>
              </a:lnSpc>
            </a:pPr>
            <a:r>
              <a:rPr sz="950" b="0">
                <a:solidFill>
                  <a:srgbClr val="697386"/>
                </a:solidFill>
                <a:latin typeface="Aptos"/>
              </a:rPr>
              <a:t>demo educators</a:t>
            </a:r>
          </a:p>
        </p:txBody>
      </p:sp>
      <p:sp>
        <p:nvSpPr>
          <p:cNvPr id="10" name="Rounded Rectangle 9"/>
          <p:cNvSpPr/>
          <p:nvPr/>
        </p:nvSpPr>
        <p:spPr>
          <a:xfrm>
            <a:off x="3447288" y="2176272"/>
            <a:ext cx="2468880" cy="1097280"/>
          </a:xfrm>
          <a:prstGeom prst="roundRect">
            <a:avLst/>
          </a:prstGeom>
          <a:solidFill>
            <a:srgbClr val="FFFFFF"/>
          </a:solidFill>
          <a:ln w="1270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666744" y="2395728"/>
            <a:ext cx="1965960" cy="438912"/>
          </a:xfrm>
          <a:prstGeom prst="rect">
            <a:avLst/>
          </a:prstGeom>
          <a:noFill/>
        </p:spPr>
        <p:txBody>
          <a:bodyPr wrap="none" lIns="0" rIns="0" tIns="0" bIns="0" anchor="t">
            <a:spAutoFit/>
          </a:bodyPr>
          <a:lstStyle/>
          <a:p>
            <a:pPr algn="l">
              <a:lnSpc>
                <a:spcPct val="100000"/>
              </a:lnSpc>
            </a:pPr>
            <a:r>
              <a:rPr sz="2600" b="1">
                <a:solidFill>
                  <a:srgbClr val="0B1020"/>
                </a:solidFill>
                <a:latin typeface="Aptos"/>
              </a:rPr>
              <a:t>5,000</a:t>
            </a:r>
          </a:p>
        </p:txBody>
      </p:sp>
      <p:sp>
        <p:nvSpPr>
          <p:cNvPr id="12" name="TextBox 11"/>
          <p:cNvSpPr txBox="1"/>
          <p:nvPr/>
        </p:nvSpPr>
        <p:spPr>
          <a:xfrm>
            <a:off x="3666744" y="2880360"/>
            <a:ext cx="1965960" cy="201168"/>
          </a:xfrm>
          <a:prstGeom prst="rect">
            <a:avLst/>
          </a:prstGeom>
          <a:noFill/>
        </p:spPr>
        <p:txBody>
          <a:bodyPr wrap="none" lIns="0" rIns="0" tIns="0" bIns="0" anchor="t">
            <a:spAutoFit/>
          </a:bodyPr>
          <a:lstStyle/>
          <a:p>
            <a:pPr algn="l">
              <a:lnSpc>
                <a:spcPct val="100000"/>
              </a:lnSpc>
            </a:pPr>
            <a:r>
              <a:rPr sz="950" b="0">
                <a:solidFill>
                  <a:srgbClr val="697386"/>
                </a:solidFill>
                <a:latin typeface="Aptos"/>
              </a:rPr>
              <a:t>shared resources</a:t>
            </a:r>
          </a:p>
        </p:txBody>
      </p:sp>
      <p:sp>
        <p:nvSpPr>
          <p:cNvPr id="13" name="Rounded Rectangle 12"/>
          <p:cNvSpPr/>
          <p:nvPr/>
        </p:nvSpPr>
        <p:spPr>
          <a:xfrm>
            <a:off x="6208776" y="2176272"/>
            <a:ext cx="2468880" cy="1097280"/>
          </a:xfrm>
          <a:prstGeom prst="roundRect">
            <a:avLst/>
          </a:prstGeom>
          <a:solidFill>
            <a:srgbClr val="FFFFFF"/>
          </a:solidFill>
          <a:ln w="1270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28232" y="2395728"/>
            <a:ext cx="1965960" cy="438912"/>
          </a:xfrm>
          <a:prstGeom prst="rect">
            <a:avLst/>
          </a:prstGeom>
          <a:noFill/>
        </p:spPr>
        <p:txBody>
          <a:bodyPr wrap="none" lIns="0" rIns="0" tIns="0" bIns="0" anchor="t">
            <a:spAutoFit/>
          </a:bodyPr>
          <a:lstStyle/>
          <a:p>
            <a:pPr algn="l">
              <a:lnSpc>
                <a:spcPct val="100000"/>
              </a:lnSpc>
            </a:pPr>
            <a:r>
              <a:rPr sz="2600" b="1">
                <a:solidFill>
                  <a:srgbClr val="0B1020"/>
                </a:solidFill>
                <a:latin typeface="Aptos"/>
              </a:rPr>
              <a:t>367</a:t>
            </a:r>
          </a:p>
        </p:txBody>
      </p:sp>
      <p:sp>
        <p:nvSpPr>
          <p:cNvPr id="15" name="TextBox 14"/>
          <p:cNvSpPr txBox="1"/>
          <p:nvPr/>
        </p:nvSpPr>
        <p:spPr>
          <a:xfrm>
            <a:off x="6428232" y="2880360"/>
            <a:ext cx="1965960" cy="201168"/>
          </a:xfrm>
          <a:prstGeom prst="rect">
            <a:avLst/>
          </a:prstGeom>
          <a:noFill/>
        </p:spPr>
        <p:txBody>
          <a:bodyPr wrap="none" lIns="0" rIns="0" tIns="0" bIns="0" anchor="t">
            <a:spAutoFit/>
          </a:bodyPr>
          <a:lstStyle/>
          <a:p>
            <a:pPr algn="l">
              <a:lnSpc>
                <a:spcPct val="100000"/>
              </a:lnSpc>
            </a:pPr>
            <a:r>
              <a:rPr sz="950" b="0">
                <a:solidFill>
                  <a:srgbClr val="697386"/>
                </a:solidFill>
                <a:latin typeface="Aptos"/>
              </a:rPr>
              <a:t>candidates scored</a:t>
            </a:r>
          </a:p>
        </p:txBody>
      </p:sp>
      <p:sp>
        <p:nvSpPr>
          <p:cNvPr id="16" name="Rounded Rectangle 15"/>
          <p:cNvSpPr/>
          <p:nvPr/>
        </p:nvSpPr>
        <p:spPr>
          <a:xfrm>
            <a:off x="8970264" y="2176272"/>
            <a:ext cx="2468880" cy="1097280"/>
          </a:xfrm>
          <a:prstGeom prst="roundRect">
            <a:avLst/>
          </a:prstGeom>
          <a:solidFill>
            <a:srgbClr val="FFFFFF"/>
          </a:solidFill>
          <a:ln w="1270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189720" y="2395728"/>
            <a:ext cx="1965960" cy="438912"/>
          </a:xfrm>
          <a:prstGeom prst="rect">
            <a:avLst/>
          </a:prstGeom>
          <a:noFill/>
        </p:spPr>
        <p:txBody>
          <a:bodyPr wrap="none" lIns="0" rIns="0" tIns="0" bIns="0" anchor="t">
            <a:spAutoFit/>
          </a:bodyPr>
          <a:lstStyle/>
          <a:p>
            <a:pPr algn="l">
              <a:lnSpc>
                <a:spcPct val="100000"/>
              </a:lnSpc>
            </a:pPr>
            <a:r>
              <a:rPr sz="2600" b="1">
                <a:solidFill>
                  <a:srgbClr val="5239F4"/>
                </a:solidFill>
                <a:latin typeface="Aptos"/>
              </a:rPr>
              <a:t>85%</a:t>
            </a:r>
          </a:p>
        </p:txBody>
      </p:sp>
      <p:sp>
        <p:nvSpPr>
          <p:cNvPr id="18" name="TextBox 17"/>
          <p:cNvSpPr txBox="1"/>
          <p:nvPr/>
        </p:nvSpPr>
        <p:spPr>
          <a:xfrm>
            <a:off x="9189720" y="2880360"/>
            <a:ext cx="1965960" cy="201168"/>
          </a:xfrm>
          <a:prstGeom prst="rect">
            <a:avLst/>
          </a:prstGeom>
          <a:noFill/>
        </p:spPr>
        <p:txBody>
          <a:bodyPr wrap="none" lIns="0" rIns="0" tIns="0" bIns="0" anchor="t">
            <a:spAutoFit/>
          </a:bodyPr>
          <a:lstStyle/>
          <a:p>
            <a:pPr algn="l">
              <a:lnSpc>
                <a:spcPct val="100000"/>
              </a:lnSpc>
            </a:pPr>
            <a:r>
              <a:rPr sz="950" b="0">
                <a:solidFill>
                  <a:srgbClr val="697386"/>
                </a:solidFill>
                <a:latin typeface="Aptos"/>
              </a:rPr>
              <a:t>Alice ↔ Bob match</a:t>
            </a:r>
          </a:p>
        </p:txBody>
      </p:sp>
      <p:sp>
        <p:nvSpPr>
          <p:cNvPr id="19" name="TextBox 18"/>
          <p:cNvSpPr txBox="1"/>
          <p:nvPr/>
        </p:nvSpPr>
        <p:spPr>
          <a:xfrm>
            <a:off x="713232" y="3703320"/>
            <a:ext cx="1828800" cy="219456"/>
          </a:xfrm>
          <a:prstGeom prst="rect">
            <a:avLst/>
          </a:prstGeom>
          <a:noFill/>
        </p:spPr>
        <p:txBody>
          <a:bodyPr wrap="none" lIns="0" rIns="0" tIns="0" bIns="0" anchor="t">
            <a:spAutoFit/>
          </a:bodyPr>
          <a:lstStyle/>
          <a:p>
            <a:pPr algn="l">
              <a:lnSpc>
                <a:spcPct val="100000"/>
              </a:lnSpc>
            </a:pPr>
            <a:r>
              <a:rPr sz="900" b="1">
                <a:solidFill>
                  <a:srgbClr val="697386"/>
                </a:solidFill>
                <a:latin typeface="Aptos"/>
              </a:rPr>
              <a:t>CONTEXT PIPELINE</a:t>
            </a:r>
          </a:p>
        </p:txBody>
      </p:sp>
      <p:sp>
        <p:nvSpPr>
          <p:cNvPr id="20" name="Rounded Rectangle 19"/>
          <p:cNvSpPr/>
          <p:nvPr/>
        </p:nvSpPr>
        <p:spPr>
          <a:xfrm>
            <a:off x="685800" y="4050791"/>
            <a:ext cx="2487168" cy="1234440"/>
          </a:xfrm>
          <a:prstGeom prst="roundRect">
            <a:avLst/>
          </a:prstGeom>
          <a:solidFill>
            <a:srgbClr val="FFFFFF"/>
          </a:solidFill>
          <a:ln w="1270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325112"/>
            <a:ext cx="2103120" cy="292608"/>
          </a:xfrm>
          <a:prstGeom prst="rect">
            <a:avLst/>
          </a:prstGeom>
          <a:noFill/>
        </p:spPr>
        <p:txBody>
          <a:bodyPr wrap="none" lIns="0" rIns="0" tIns="0" bIns="0" anchor="t">
            <a:spAutoFit/>
          </a:bodyPr>
          <a:lstStyle/>
          <a:p>
            <a:pPr algn="ctr">
              <a:lnSpc>
                <a:spcPct val="100000"/>
              </a:lnSpc>
            </a:pPr>
            <a:r>
              <a:rPr sz="1400" b="1">
                <a:solidFill>
                  <a:srgbClr val="0B1020"/>
                </a:solidFill>
                <a:latin typeface="Aptos"/>
              </a:rPr>
              <a:t>React + TypeScript</a:t>
            </a:r>
          </a:p>
        </p:txBody>
      </p:sp>
      <p:sp>
        <p:nvSpPr>
          <p:cNvPr id="22" name="TextBox 21"/>
          <p:cNvSpPr txBox="1"/>
          <p:nvPr/>
        </p:nvSpPr>
        <p:spPr>
          <a:xfrm>
            <a:off x="868680" y="4727448"/>
            <a:ext cx="2103120" cy="201168"/>
          </a:xfrm>
          <a:prstGeom prst="rect">
            <a:avLst/>
          </a:prstGeom>
          <a:noFill/>
        </p:spPr>
        <p:txBody>
          <a:bodyPr wrap="none" lIns="0" rIns="0" tIns="0" bIns="0" anchor="t">
            <a:spAutoFit/>
          </a:bodyPr>
          <a:lstStyle/>
          <a:p>
            <a:pPr algn="ctr">
              <a:lnSpc>
                <a:spcPct val="100000"/>
              </a:lnSpc>
            </a:pPr>
            <a:r>
              <a:rPr sz="900" b="0">
                <a:solidFill>
                  <a:srgbClr val="697386"/>
                </a:solidFill>
                <a:latin typeface="Aptos"/>
              </a:rPr>
              <a:t>Experience</a:t>
            </a:r>
          </a:p>
        </p:txBody>
      </p:sp>
      <p:sp>
        <p:nvSpPr>
          <p:cNvPr id="23" name="TextBox 22"/>
          <p:cNvSpPr txBox="1"/>
          <p:nvPr/>
        </p:nvSpPr>
        <p:spPr>
          <a:xfrm>
            <a:off x="3218688" y="4434840"/>
            <a:ext cx="256032" cy="228600"/>
          </a:xfrm>
          <a:prstGeom prst="rect">
            <a:avLst/>
          </a:prstGeom>
          <a:noFill/>
        </p:spPr>
        <p:txBody>
          <a:bodyPr wrap="none" lIns="0" rIns="0" tIns="0" bIns="0" anchor="t">
            <a:spAutoFit/>
          </a:bodyPr>
          <a:lstStyle/>
          <a:p>
            <a:pPr algn="ctr">
              <a:lnSpc>
                <a:spcPct val="100000"/>
              </a:lnSpc>
            </a:pPr>
            <a:r>
              <a:rPr sz="1500" b="1">
                <a:solidFill>
                  <a:srgbClr val="697386"/>
                </a:solidFill>
                <a:latin typeface="Aptos"/>
              </a:rPr>
              <a:t>→</a:t>
            </a:r>
          </a:p>
        </p:txBody>
      </p:sp>
      <p:sp>
        <p:nvSpPr>
          <p:cNvPr id="24" name="Rounded Rectangle 23"/>
          <p:cNvSpPr/>
          <p:nvPr/>
        </p:nvSpPr>
        <p:spPr>
          <a:xfrm>
            <a:off x="3465576" y="4050791"/>
            <a:ext cx="2487168" cy="1234440"/>
          </a:xfrm>
          <a:prstGeom prst="roundRect">
            <a:avLst/>
          </a:prstGeom>
          <a:solidFill>
            <a:srgbClr val="FFFFFF"/>
          </a:solidFill>
          <a:ln w="1270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3648456" y="4325112"/>
            <a:ext cx="2103120" cy="292608"/>
          </a:xfrm>
          <a:prstGeom prst="rect">
            <a:avLst/>
          </a:prstGeom>
          <a:noFill/>
        </p:spPr>
        <p:txBody>
          <a:bodyPr wrap="none" lIns="0" rIns="0" tIns="0" bIns="0" anchor="t">
            <a:spAutoFit/>
          </a:bodyPr>
          <a:lstStyle/>
          <a:p>
            <a:pPr algn="ctr">
              <a:lnSpc>
                <a:spcPct val="100000"/>
              </a:lnSpc>
            </a:pPr>
            <a:r>
              <a:rPr sz="1400" b="1">
                <a:solidFill>
                  <a:srgbClr val="0B1020"/>
                </a:solidFill>
                <a:latin typeface="Aptos"/>
              </a:rPr>
              <a:t>FastAPI</a:t>
            </a:r>
          </a:p>
        </p:txBody>
      </p:sp>
      <p:sp>
        <p:nvSpPr>
          <p:cNvPr id="26" name="TextBox 25"/>
          <p:cNvSpPr txBox="1"/>
          <p:nvPr/>
        </p:nvSpPr>
        <p:spPr>
          <a:xfrm>
            <a:off x="3648456" y="4727448"/>
            <a:ext cx="2103120" cy="201168"/>
          </a:xfrm>
          <a:prstGeom prst="rect">
            <a:avLst/>
          </a:prstGeom>
          <a:noFill/>
        </p:spPr>
        <p:txBody>
          <a:bodyPr wrap="none" lIns="0" rIns="0" tIns="0" bIns="0" anchor="t">
            <a:spAutoFit/>
          </a:bodyPr>
          <a:lstStyle/>
          <a:p>
            <a:pPr algn="ctr">
              <a:lnSpc>
                <a:spcPct val="100000"/>
              </a:lnSpc>
            </a:pPr>
            <a:r>
              <a:rPr sz="900" b="0">
                <a:solidFill>
                  <a:srgbClr val="697386"/>
                </a:solidFill>
                <a:latin typeface="Aptos"/>
              </a:rPr>
              <a:t>Application</a:t>
            </a:r>
          </a:p>
        </p:txBody>
      </p:sp>
      <p:sp>
        <p:nvSpPr>
          <p:cNvPr id="27" name="TextBox 26"/>
          <p:cNvSpPr txBox="1"/>
          <p:nvPr/>
        </p:nvSpPr>
        <p:spPr>
          <a:xfrm>
            <a:off x="5998464" y="4434840"/>
            <a:ext cx="256032" cy="228600"/>
          </a:xfrm>
          <a:prstGeom prst="rect">
            <a:avLst/>
          </a:prstGeom>
          <a:noFill/>
        </p:spPr>
        <p:txBody>
          <a:bodyPr wrap="none" lIns="0" rIns="0" tIns="0" bIns="0" anchor="t">
            <a:spAutoFit/>
          </a:bodyPr>
          <a:lstStyle/>
          <a:p>
            <a:pPr algn="ctr">
              <a:lnSpc>
                <a:spcPct val="100000"/>
              </a:lnSpc>
            </a:pPr>
            <a:r>
              <a:rPr sz="1500" b="1">
                <a:solidFill>
                  <a:srgbClr val="697386"/>
                </a:solidFill>
                <a:latin typeface="Aptos"/>
              </a:rPr>
              <a:t>→</a:t>
            </a:r>
          </a:p>
        </p:txBody>
      </p:sp>
      <p:sp>
        <p:nvSpPr>
          <p:cNvPr id="28" name="Rounded Rectangle 27"/>
          <p:cNvSpPr/>
          <p:nvPr/>
        </p:nvSpPr>
        <p:spPr>
          <a:xfrm>
            <a:off x="6245352" y="4050791"/>
            <a:ext cx="2487168" cy="1234440"/>
          </a:xfrm>
          <a:prstGeom prst="roundRect">
            <a:avLst/>
          </a:prstGeom>
          <a:solidFill>
            <a:srgbClr val="5239F4"/>
          </a:solidFill>
          <a:ln w="12700">
            <a:solidFill>
              <a:srgbClr val="5239F4"/>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28232" y="4325112"/>
            <a:ext cx="2103120" cy="292608"/>
          </a:xfrm>
          <a:prstGeom prst="rect">
            <a:avLst/>
          </a:prstGeom>
          <a:noFill/>
        </p:spPr>
        <p:txBody>
          <a:bodyPr wrap="none" lIns="0" rIns="0" tIns="0" bIns="0" anchor="t">
            <a:spAutoFit/>
          </a:bodyPr>
          <a:lstStyle/>
          <a:p>
            <a:pPr algn="ctr">
              <a:lnSpc>
                <a:spcPct val="100000"/>
              </a:lnSpc>
            </a:pPr>
            <a:r>
              <a:rPr sz="1400" b="1">
                <a:solidFill>
                  <a:srgbClr val="FFFFFF"/>
                </a:solidFill>
                <a:latin typeface="Aptos"/>
              </a:rPr>
              <a:t>PostgreSQL + pgvector</a:t>
            </a:r>
          </a:p>
        </p:txBody>
      </p:sp>
      <p:sp>
        <p:nvSpPr>
          <p:cNvPr id="30" name="TextBox 29"/>
          <p:cNvSpPr txBox="1"/>
          <p:nvPr/>
        </p:nvSpPr>
        <p:spPr>
          <a:xfrm>
            <a:off x="6428232" y="4727448"/>
            <a:ext cx="2103120" cy="201168"/>
          </a:xfrm>
          <a:prstGeom prst="rect">
            <a:avLst/>
          </a:prstGeom>
          <a:noFill/>
        </p:spPr>
        <p:txBody>
          <a:bodyPr wrap="none" lIns="0" rIns="0" tIns="0" bIns="0" anchor="t">
            <a:spAutoFit/>
          </a:bodyPr>
          <a:lstStyle/>
          <a:p>
            <a:pPr algn="ctr">
              <a:lnSpc>
                <a:spcPct val="100000"/>
              </a:lnSpc>
            </a:pPr>
            <a:r>
              <a:rPr sz="900" b="0">
                <a:solidFill>
                  <a:srgbClr val="D7D2FF"/>
                </a:solidFill>
                <a:latin typeface="Aptos"/>
              </a:rPr>
              <a:t>Meaning + data</a:t>
            </a:r>
          </a:p>
        </p:txBody>
      </p:sp>
      <p:sp>
        <p:nvSpPr>
          <p:cNvPr id="31" name="TextBox 30"/>
          <p:cNvSpPr txBox="1"/>
          <p:nvPr/>
        </p:nvSpPr>
        <p:spPr>
          <a:xfrm>
            <a:off x="8778240" y="4434840"/>
            <a:ext cx="256032" cy="228600"/>
          </a:xfrm>
          <a:prstGeom prst="rect">
            <a:avLst/>
          </a:prstGeom>
          <a:noFill/>
        </p:spPr>
        <p:txBody>
          <a:bodyPr wrap="none" lIns="0" rIns="0" tIns="0" bIns="0" anchor="t">
            <a:spAutoFit/>
          </a:bodyPr>
          <a:lstStyle/>
          <a:p>
            <a:pPr algn="ctr">
              <a:lnSpc>
                <a:spcPct val="100000"/>
              </a:lnSpc>
            </a:pPr>
            <a:r>
              <a:rPr sz="1500" b="1">
                <a:solidFill>
                  <a:srgbClr val="697386"/>
                </a:solidFill>
                <a:latin typeface="Aptos"/>
              </a:rPr>
              <a:t>→</a:t>
            </a:r>
          </a:p>
        </p:txBody>
      </p:sp>
      <p:sp>
        <p:nvSpPr>
          <p:cNvPr id="32" name="Rounded Rectangle 31"/>
          <p:cNvSpPr/>
          <p:nvPr/>
        </p:nvSpPr>
        <p:spPr>
          <a:xfrm>
            <a:off x="9025128" y="4050791"/>
            <a:ext cx="2487168" cy="1234440"/>
          </a:xfrm>
          <a:prstGeom prst="roundRect">
            <a:avLst/>
          </a:prstGeom>
          <a:solidFill>
            <a:srgbClr val="FFFFFF"/>
          </a:solidFill>
          <a:ln w="12700">
            <a:solidFill>
              <a:srgbClr val="DFE3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9208008" y="4325112"/>
            <a:ext cx="2103120" cy="292608"/>
          </a:xfrm>
          <a:prstGeom prst="rect">
            <a:avLst/>
          </a:prstGeom>
          <a:noFill/>
        </p:spPr>
        <p:txBody>
          <a:bodyPr wrap="none" lIns="0" rIns="0" tIns="0" bIns="0" anchor="t">
            <a:spAutoFit/>
          </a:bodyPr>
          <a:lstStyle/>
          <a:p>
            <a:pPr algn="ctr">
              <a:lnSpc>
                <a:spcPct val="100000"/>
              </a:lnSpc>
            </a:pPr>
            <a:r>
              <a:rPr sz="1400" b="1">
                <a:solidFill>
                  <a:srgbClr val="0B1020"/>
                </a:solidFill>
                <a:latin typeface="Aptos"/>
              </a:rPr>
              <a:t>Optional Elasticsearch</a:t>
            </a:r>
          </a:p>
        </p:txBody>
      </p:sp>
      <p:sp>
        <p:nvSpPr>
          <p:cNvPr id="34" name="TextBox 33"/>
          <p:cNvSpPr txBox="1"/>
          <p:nvPr/>
        </p:nvSpPr>
        <p:spPr>
          <a:xfrm>
            <a:off x="9208008" y="4727448"/>
            <a:ext cx="2103120" cy="201168"/>
          </a:xfrm>
          <a:prstGeom prst="rect">
            <a:avLst/>
          </a:prstGeom>
          <a:noFill/>
        </p:spPr>
        <p:txBody>
          <a:bodyPr wrap="none" lIns="0" rIns="0" tIns="0" bIns="0" anchor="t">
            <a:spAutoFit/>
          </a:bodyPr>
          <a:lstStyle/>
          <a:p>
            <a:pPr algn="ctr">
              <a:lnSpc>
                <a:spcPct val="100000"/>
              </a:lnSpc>
            </a:pPr>
            <a:r>
              <a:rPr sz="900" b="0">
                <a:solidFill>
                  <a:srgbClr val="697386"/>
                </a:solidFill>
                <a:latin typeface="Aptos"/>
              </a:rPr>
              <a:t>Hybrid search</a:t>
            </a:r>
          </a:p>
        </p:txBody>
      </p:sp>
      <p:sp>
        <p:nvSpPr>
          <p:cNvPr id="35" name="Rounded Rectangle 34"/>
          <p:cNvSpPr/>
          <p:nvPr/>
        </p:nvSpPr>
        <p:spPr>
          <a:xfrm>
            <a:off x="685800" y="5669280"/>
            <a:ext cx="10835640" cy="566928"/>
          </a:xfrm>
          <a:prstGeom prst="roundRect">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60120" y="5870448"/>
            <a:ext cx="1234440" cy="164592"/>
          </a:xfrm>
          <a:prstGeom prst="rect">
            <a:avLst/>
          </a:prstGeom>
          <a:noFill/>
        </p:spPr>
        <p:txBody>
          <a:bodyPr wrap="none" lIns="0" rIns="0" tIns="0" bIns="0" anchor="t">
            <a:spAutoFit/>
          </a:bodyPr>
          <a:lstStyle/>
          <a:p>
            <a:pPr algn="l">
              <a:lnSpc>
                <a:spcPct val="100000"/>
              </a:lnSpc>
            </a:pPr>
            <a:r>
              <a:rPr sz="800" b="1">
                <a:solidFill>
                  <a:srgbClr val="D9FF63"/>
                </a:solidFill>
                <a:latin typeface="Aptos"/>
              </a:rPr>
              <a:t>LIVE WEB APP</a:t>
            </a:r>
          </a:p>
        </p:txBody>
      </p:sp>
      <p:sp>
        <p:nvSpPr>
          <p:cNvPr id="37" name="TextBox 36"/>
          <p:cNvSpPr txBox="1"/>
          <p:nvPr/>
        </p:nvSpPr>
        <p:spPr>
          <a:xfrm>
            <a:off x="2468880" y="5806440"/>
            <a:ext cx="3749039" cy="256032"/>
          </a:xfrm>
          <a:prstGeom prst="rect">
            <a:avLst/>
          </a:prstGeom>
          <a:noFill/>
        </p:spPr>
        <p:txBody>
          <a:bodyPr wrap="none" lIns="0" rIns="0" tIns="0" bIns="0" anchor="t">
            <a:spAutoFit/>
          </a:bodyPr>
          <a:lstStyle/>
          <a:p>
            <a:pPr algn="l">
              <a:lnSpc>
                <a:spcPct val="100000"/>
              </a:lnSpc>
            </a:pPr>
            <a:r>
              <a:rPr sz="1400" b="1">
                <a:solidFill>
                  <a:srgbClr val="FFFFFF"/>
                </a:solidFill>
                <a:latin typeface="Aptos"/>
              </a:rPr>
              <a:t>edumatch-web.onrender.com</a:t>
            </a:r>
          </a:p>
        </p:txBody>
      </p:sp>
      <p:sp>
        <p:nvSpPr>
          <p:cNvPr id="38" name="TextBox 37"/>
          <p:cNvSpPr txBox="1"/>
          <p:nvPr/>
        </p:nvSpPr>
        <p:spPr>
          <a:xfrm>
            <a:off x="6583680" y="5843016"/>
            <a:ext cx="4526280" cy="201168"/>
          </a:xfrm>
          <a:prstGeom prst="rect">
            <a:avLst/>
          </a:prstGeom>
          <a:noFill/>
        </p:spPr>
        <p:txBody>
          <a:bodyPr wrap="none" lIns="0" rIns="0" tIns="0" bIns="0" anchor="t">
            <a:spAutoFit/>
          </a:bodyPr>
          <a:lstStyle/>
          <a:p>
            <a:pPr algn="r">
              <a:lnSpc>
                <a:spcPct val="100000"/>
              </a:lnSpc>
            </a:pPr>
            <a:r>
              <a:rPr sz="1000" b="0">
                <a:solidFill>
                  <a:srgbClr val="A9B1C2"/>
                </a:solidFill>
                <a:latin typeface="Aptos"/>
              </a:rPr>
              <a:t>Auth · messaging · uploads · CI · migrations · smoke tests</a:t>
            </a:r>
          </a:p>
        </p:txBody>
      </p:sp>
      <p:sp>
        <p:nvSpPr>
          <p:cNvPr id="39" name="TextBox 38"/>
          <p:cNvSpPr txBox="1"/>
          <p:nvPr/>
        </p:nvSpPr>
        <p:spPr>
          <a:xfrm>
            <a:off x="640080" y="6510528"/>
            <a:ext cx="2743200" cy="164592"/>
          </a:xfrm>
          <a:prstGeom prst="rect">
            <a:avLst/>
          </a:prstGeom>
          <a:noFill/>
        </p:spPr>
        <p:txBody>
          <a:bodyPr wrap="none" lIns="0" rIns="0" tIns="0" bIns="0" anchor="t">
            <a:spAutoFit/>
          </a:bodyPr>
          <a:lstStyle/>
          <a:p>
            <a:pPr algn="l">
              <a:lnSpc>
                <a:spcPct val="100000"/>
              </a:lnSpc>
            </a:pPr>
            <a:r>
              <a:rPr sz="750" b="1">
                <a:solidFill>
                  <a:srgbClr val="8A93A5"/>
                </a:solidFill>
                <a:latin typeface="Aptos"/>
              </a:rPr>
              <a:t>EDUMATCH · HACKMIT 2026</a:t>
            </a:r>
          </a:p>
        </p:txBody>
      </p:sp>
      <p:sp>
        <p:nvSpPr>
          <p:cNvPr id="40" name="TextBox 39"/>
          <p:cNvSpPr txBox="1"/>
          <p:nvPr/>
        </p:nvSpPr>
        <p:spPr>
          <a:xfrm>
            <a:off x="11018520" y="6473952"/>
            <a:ext cx="502920" cy="201168"/>
          </a:xfrm>
          <a:prstGeom prst="rect">
            <a:avLst/>
          </a:prstGeom>
          <a:noFill/>
        </p:spPr>
        <p:txBody>
          <a:bodyPr wrap="none" lIns="0" rIns="0" tIns="0" bIns="0" anchor="t">
            <a:spAutoFit/>
          </a:bodyPr>
          <a:lstStyle/>
          <a:p>
            <a:pPr algn="r">
              <a:lnSpc>
                <a:spcPct val="100000"/>
              </a:lnSpc>
            </a:pPr>
            <a:r>
              <a:rPr sz="800" b="1">
                <a:solidFill>
                  <a:srgbClr val="8A93A5"/>
                </a:solidFill>
                <a:latin typeface="Aptos"/>
              </a:rP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D9FF63"/>
        </a:solidFill>
        <a:effectLst/>
      </p:bgPr>
    </p:bg>
    <p:spTree>
      <p:nvGrpSpPr>
        <p:cNvPr id="1" name=""/>
        <p:cNvGrpSpPr/>
        <p:nvPr/>
      </p:nvGrpSpPr>
      <p:grpSpPr/>
      <p:sp>
        <p:nvSpPr>
          <p:cNvPr id="2" name="TextBox 1"/>
          <p:cNvSpPr txBox="1"/>
          <p:nvPr/>
        </p:nvSpPr>
        <p:spPr>
          <a:xfrm>
            <a:off x="685800" y="713232"/>
            <a:ext cx="3200400" cy="237744"/>
          </a:xfrm>
          <a:prstGeom prst="rect">
            <a:avLst/>
          </a:prstGeom>
          <a:noFill/>
        </p:spPr>
        <p:txBody>
          <a:bodyPr wrap="none" lIns="0" rIns="0" tIns="0" bIns="0" anchor="t">
            <a:spAutoFit/>
          </a:bodyPr>
          <a:lstStyle/>
          <a:p>
            <a:pPr algn="l">
              <a:lnSpc>
                <a:spcPct val="100000"/>
              </a:lnSpc>
            </a:pPr>
            <a:r>
              <a:rPr sz="900" b="1">
                <a:solidFill>
                  <a:srgbClr val="0B1020"/>
                </a:solidFill>
                <a:latin typeface="Aptos"/>
              </a:rPr>
              <a:t>EDUMATCH</a:t>
            </a:r>
          </a:p>
        </p:txBody>
      </p:sp>
      <p:sp>
        <p:nvSpPr>
          <p:cNvPr id="3" name="TextBox 2"/>
          <p:cNvSpPr txBox="1"/>
          <p:nvPr/>
        </p:nvSpPr>
        <p:spPr>
          <a:xfrm>
            <a:off x="685800" y="1188720"/>
            <a:ext cx="6949440" cy="1508760"/>
          </a:xfrm>
          <a:prstGeom prst="rect">
            <a:avLst/>
          </a:prstGeom>
          <a:noFill/>
        </p:spPr>
        <p:txBody>
          <a:bodyPr wrap="none" lIns="0" rIns="0" tIns="0" bIns="0" anchor="t">
            <a:spAutoFit/>
          </a:bodyPr>
          <a:lstStyle/>
          <a:p>
            <a:pPr algn="l">
              <a:lnSpc>
                <a:spcPct val="88000"/>
              </a:lnSpc>
            </a:pPr>
            <a:r>
              <a:rPr sz="4800" b="1">
                <a:solidFill>
                  <a:srgbClr val="0B1020"/>
                </a:solidFill>
                <a:latin typeface="Aptos Display"/>
              </a:rPr>
              <a:t>Better teaching</a:t>
            </a:r>
            <a:br/>
            <a:r>
              <a:t>already exists.</a:t>
            </a:r>
          </a:p>
        </p:txBody>
      </p:sp>
      <p:sp>
        <p:nvSpPr>
          <p:cNvPr id="4" name="TextBox 3"/>
          <p:cNvSpPr txBox="1"/>
          <p:nvPr/>
        </p:nvSpPr>
        <p:spPr>
          <a:xfrm>
            <a:off x="685800" y="2816352"/>
            <a:ext cx="7498079" cy="621792"/>
          </a:xfrm>
          <a:prstGeom prst="rect">
            <a:avLst/>
          </a:prstGeom>
          <a:noFill/>
        </p:spPr>
        <p:txBody>
          <a:bodyPr wrap="none" lIns="0" rIns="0" tIns="0" bIns="0" anchor="t">
            <a:spAutoFit/>
          </a:bodyPr>
          <a:lstStyle/>
          <a:p>
            <a:pPr algn="l">
              <a:lnSpc>
                <a:spcPct val="100000"/>
              </a:lnSpc>
            </a:pPr>
            <a:r>
              <a:rPr sz="3100" b="1">
                <a:solidFill>
                  <a:srgbClr val="0B1020"/>
                </a:solidFill>
                <a:latin typeface="Aptos Display"/>
              </a:rPr>
              <a:t>EduMatch helps it travel.</a:t>
            </a:r>
          </a:p>
        </p:txBody>
      </p:sp>
      <p:sp>
        <p:nvSpPr>
          <p:cNvPr id="5" name="TextBox 4"/>
          <p:cNvSpPr txBox="1"/>
          <p:nvPr/>
        </p:nvSpPr>
        <p:spPr>
          <a:xfrm>
            <a:off x="713232" y="3858768"/>
            <a:ext cx="365760" cy="182880"/>
          </a:xfrm>
          <a:prstGeom prst="rect">
            <a:avLst/>
          </a:prstGeom>
          <a:noFill/>
        </p:spPr>
        <p:txBody>
          <a:bodyPr wrap="none" lIns="0" rIns="0" tIns="0" bIns="0" anchor="t">
            <a:spAutoFit/>
          </a:bodyPr>
          <a:lstStyle/>
          <a:p>
            <a:pPr algn="l">
              <a:lnSpc>
                <a:spcPct val="100000"/>
              </a:lnSpc>
            </a:pPr>
            <a:r>
              <a:rPr sz="900" b="1">
                <a:solidFill>
                  <a:srgbClr val="0B1020"/>
                </a:solidFill>
                <a:latin typeface="Aptos"/>
              </a:rPr>
              <a:t>01</a:t>
            </a:r>
          </a:p>
        </p:txBody>
      </p:sp>
      <p:sp>
        <p:nvSpPr>
          <p:cNvPr id="6" name="TextBox 5"/>
          <p:cNvSpPr txBox="1"/>
          <p:nvPr/>
        </p:nvSpPr>
        <p:spPr>
          <a:xfrm>
            <a:off x="713232" y="4160520"/>
            <a:ext cx="1737360" cy="292608"/>
          </a:xfrm>
          <a:prstGeom prst="rect">
            <a:avLst/>
          </a:prstGeom>
          <a:noFill/>
        </p:spPr>
        <p:txBody>
          <a:bodyPr wrap="none" lIns="0" rIns="0" tIns="0" bIns="0" anchor="t">
            <a:spAutoFit/>
          </a:bodyPr>
          <a:lstStyle/>
          <a:p>
            <a:pPr algn="l">
              <a:lnSpc>
                <a:spcPct val="100000"/>
              </a:lnSpc>
            </a:pPr>
            <a:r>
              <a:rPr sz="1700" b="1">
                <a:solidFill>
                  <a:srgbClr val="0B1020"/>
                </a:solidFill>
                <a:latin typeface="Aptos"/>
              </a:rPr>
              <a:t>Describe</a:t>
            </a:r>
          </a:p>
        </p:txBody>
      </p:sp>
      <p:sp>
        <p:nvSpPr>
          <p:cNvPr id="7" name="TextBox 6"/>
          <p:cNvSpPr txBox="1"/>
          <p:nvPr/>
        </p:nvSpPr>
        <p:spPr>
          <a:xfrm>
            <a:off x="713232" y="4526280"/>
            <a:ext cx="2194560" cy="274320"/>
          </a:xfrm>
          <a:prstGeom prst="rect">
            <a:avLst/>
          </a:prstGeom>
          <a:noFill/>
        </p:spPr>
        <p:txBody>
          <a:bodyPr wrap="none" lIns="0" rIns="0" tIns="0" bIns="0" anchor="t">
            <a:spAutoFit/>
          </a:bodyPr>
          <a:lstStyle/>
          <a:p>
            <a:pPr algn="l">
              <a:lnSpc>
                <a:spcPct val="100000"/>
              </a:lnSpc>
            </a:pPr>
            <a:r>
              <a:rPr sz="1050" b="0">
                <a:solidFill>
                  <a:srgbClr val="34433D"/>
                </a:solidFill>
                <a:latin typeface="Aptos"/>
              </a:rPr>
              <a:t>how you actually teach</a:t>
            </a:r>
          </a:p>
        </p:txBody>
      </p:sp>
      <p:sp>
        <p:nvSpPr>
          <p:cNvPr id="8" name="TextBox 7"/>
          <p:cNvSpPr txBox="1"/>
          <p:nvPr/>
        </p:nvSpPr>
        <p:spPr>
          <a:xfrm>
            <a:off x="3200400" y="3858768"/>
            <a:ext cx="365760" cy="182880"/>
          </a:xfrm>
          <a:prstGeom prst="rect">
            <a:avLst/>
          </a:prstGeom>
          <a:noFill/>
        </p:spPr>
        <p:txBody>
          <a:bodyPr wrap="none" lIns="0" rIns="0" tIns="0" bIns="0" anchor="t">
            <a:spAutoFit/>
          </a:bodyPr>
          <a:lstStyle/>
          <a:p>
            <a:pPr algn="l">
              <a:lnSpc>
                <a:spcPct val="100000"/>
              </a:lnSpc>
            </a:pPr>
            <a:r>
              <a:rPr sz="900" b="1">
                <a:solidFill>
                  <a:srgbClr val="0B1020"/>
                </a:solidFill>
                <a:latin typeface="Aptos"/>
              </a:rPr>
              <a:t>02</a:t>
            </a:r>
          </a:p>
        </p:txBody>
      </p:sp>
      <p:sp>
        <p:nvSpPr>
          <p:cNvPr id="9" name="TextBox 8"/>
          <p:cNvSpPr txBox="1"/>
          <p:nvPr/>
        </p:nvSpPr>
        <p:spPr>
          <a:xfrm>
            <a:off x="3200400" y="4160520"/>
            <a:ext cx="1737360" cy="292608"/>
          </a:xfrm>
          <a:prstGeom prst="rect">
            <a:avLst/>
          </a:prstGeom>
          <a:noFill/>
        </p:spPr>
        <p:txBody>
          <a:bodyPr wrap="none" lIns="0" rIns="0" tIns="0" bIns="0" anchor="t">
            <a:spAutoFit/>
          </a:bodyPr>
          <a:lstStyle/>
          <a:p>
            <a:pPr algn="l">
              <a:lnSpc>
                <a:spcPct val="100000"/>
              </a:lnSpc>
            </a:pPr>
            <a:r>
              <a:rPr sz="1700" b="1">
                <a:solidFill>
                  <a:srgbClr val="0B1020"/>
                </a:solidFill>
                <a:latin typeface="Aptos"/>
              </a:rPr>
              <a:t>Meet</a:t>
            </a:r>
          </a:p>
        </p:txBody>
      </p:sp>
      <p:sp>
        <p:nvSpPr>
          <p:cNvPr id="10" name="TextBox 9"/>
          <p:cNvSpPr txBox="1"/>
          <p:nvPr/>
        </p:nvSpPr>
        <p:spPr>
          <a:xfrm>
            <a:off x="3200400" y="4526280"/>
            <a:ext cx="2194560" cy="274320"/>
          </a:xfrm>
          <a:prstGeom prst="rect">
            <a:avLst/>
          </a:prstGeom>
          <a:noFill/>
        </p:spPr>
        <p:txBody>
          <a:bodyPr wrap="none" lIns="0" rIns="0" tIns="0" bIns="0" anchor="t">
            <a:spAutoFit/>
          </a:bodyPr>
          <a:lstStyle/>
          <a:p>
            <a:pPr algn="l">
              <a:lnSpc>
                <a:spcPct val="100000"/>
              </a:lnSpc>
            </a:pPr>
            <a:r>
              <a:rPr sz="1050" b="0">
                <a:solidFill>
                  <a:srgbClr val="34433D"/>
                </a:solidFill>
                <a:latin typeface="Aptos"/>
              </a:rPr>
              <a:t>the people who fit</a:t>
            </a:r>
          </a:p>
        </p:txBody>
      </p:sp>
      <p:sp>
        <p:nvSpPr>
          <p:cNvPr id="11" name="TextBox 10"/>
          <p:cNvSpPr txBox="1"/>
          <p:nvPr/>
        </p:nvSpPr>
        <p:spPr>
          <a:xfrm>
            <a:off x="5687568" y="3858768"/>
            <a:ext cx="365760" cy="182880"/>
          </a:xfrm>
          <a:prstGeom prst="rect">
            <a:avLst/>
          </a:prstGeom>
          <a:noFill/>
        </p:spPr>
        <p:txBody>
          <a:bodyPr wrap="none" lIns="0" rIns="0" tIns="0" bIns="0" anchor="t">
            <a:spAutoFit/>
          </a:bodyPr>
          <a:lstStyle/>
          <a:p>
            <a:pPr algn="l">
              <a:lnSpc>
                <a:spcPct val="100000"/>
              </a:lnSpc>
            </a:pPr>
            <a:r>
              <a:rPr sz="900" b="1">
                <a:solidFill>
                  <a:srgbClr val="0B1020"/>
                </a:solidFill>
                <a:latin typeface="Aptos"/>
              </a:rPr>
              <a:t>03</a:t>
            </a:r>
          </a:p>
        </p:txBody>
      </p:sp>
      <p:sp>
        <p:nvSpPr>
          <p:cNvPr id="12" name="TextBox 11"/>
          <p:cNvSpPr txBox="1"/>
          <p:nvPr/>
        </p:nvSpPr>
        <p:spPr>
          <a:xfrm>
            <a:off x="5687568" y="4160520"/>
            <a:ext cx="1737360" cy="292608"/>
          </a:xfrm>
          <a:prstGeom prst="rect">
            <a:avLst/>
          </a:prstGeom>
          <a:noFill/>
        </p:spPr>
        <p:txBody>
          <a:bodyPr wrap="none" lIns="0" rIns="0" tIns="0" bIns="0" anchor="t">
            <a:spAutoFit/>
          </a:bodyPr>
          <a:lstStyle/>
          <a:p>
            <a:pPr algn="l">
              <a:lnSpc>
                <a:spcPct val="100000"/>
              </a:lnSpc>
            </a:pPr>
            <a:r>
              <a:rPr sz="1700" b="1">
                <a:solidFill>
                  <a:srgbClr val="0B1020"/>
                </a:solidFill>
                <a:latin typeface="Aptos"/>
              </a:rPr>
              <a:t>Build</a:t>
            </a:r>
          </a:p>
        </p:txBody>
      </p:sp>
      <p:sp>
        <p:nvSpPr>
          <p:cNvPr id="13" name="TextBox 12"/>
          <p:cNvSpPr txBox="1"/>
          <p:nvPr/>
        </p:nvSpPr>
        <p:spPr>
          <a:xfrm>
            <a:off x="5687568" y="4526280"/>
            <a:ext cx="2194560" cy="274320"/>
          </a:xfrm>
          <a:prstGeom prst="rect">
            <a:avLst/>
          </a:prstGeom>
          <a:noFill/>
        </p:spPr>
        <p:txBody>
          <a:bodyPr wrap="none" lIns="0" rIns="0" tIns="0" bIns="0" anchor="t">
            <a:spAutoFit/>
          </a:bodyPr>
          <a:lstStyle/>
          <a:p>
            <a:pPr algn="l">
              <a:lnSpc>
                <a:spcPct val="100000"/>
              </a:lnSpc>
            </a:pPr>
            <a:r>
              <a:rPr sz="1050" b="0">
                <a:solidFill>
                  <a:srgbClr val="34433D"/>
                </a:solidFill>
                <a:latin typeface="Aptos"/>
              </a:rPr>
              <a:t>for the classroom together</a:t>
            </a:r>
          </a:p>
        </p:txBody>
      </p:sp>
      <p:sp>
        <p:nvSpPr>
          <p:cNvPr id="14" name="Rounded Rectangle 13"/>
          <p:cNvSpPr/>
          <p:nvPr/>
        </p:nvSpPr>
        <p:spPr>
          <a:xfrm>
            <a:off x="8183879" y="1280160"/>
            <a:ext cx="3364992" cy="4251960"/>
          </a:xfrm>
          <a:prstGeom prst="roundRect">
            <a:avLst/>
          </a:prstGeom>
          <a:solidFill>
            <a:srgbClr val="0B1020"/>
          </a:solidFill>
          <a:ln w="12700">
            <a:solidFill>
              <a:srgbClr val="0B102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3920" y="1664208"/>
            <a:ext cx="2560320" cy="219456"/>
          </a:xfrm>
          <a:prstGeom prst="rect">
            <a:avLst/>
          </a:prstGeom>
          <a:noFill/>
        </p:spPr>
        <p:txBody>
          <a:bodyPr wrap="none" lIns="0" rIns="0" tIns="0" bIns="0" anchor="t">
            <a:spAutoFit/>
          </a:bodyPr>
          <a:lstStyle/>
          <a:p>
            <a:pPr algn="l">
              <a:lnSpc>
                <a:spcPct val="100000"/>
              </a:lnSpc>
            </a:pPr>
            <a:r>
              <a:rPr sz="900" b="1">
                <a:solidFill>
                  <a:srgbClr val="D9FF63"/>
                </a:solidFill>
                <a:latin typeface="Aptos"/>
              </a:rPr>
              <a:t>TRY IT LIVE</a:t>
            </a:r>
          </a:p>
        </p:txBody>
      </p:sp>
      <p:sp>
        <p:nvSpPr>
          <p:cNvPr id="16" name="TextBox 15"/>
          <p:cNvSpPr txBox="1"/>
          <p:nvPr/>
        </p:nvSpPr>
        <p:spPr>
          <a:xfrm>
            <a:off x="8503920" y="2103120"/>
            <a:ext cx="2560320" cy="960120"/>
          </a:xfrm>
          <a:prstGeom prst="rect">
            <a:avLst/>
          </a:prstGeom>
          <a:noFill/>
        </p:spPr>
        <p:txBody>
          <a:bodyPr wrap="none" lIns="0" rIns="0" tIns="0" bIns="0" anchor="t">
            <a:spAutoFit/>
          </a:bodyPr>
          <a:lstStyle/>
          <a:p>
            <a:pPr algn="l">
              <a:lnSpc>
                <a:spcPct val="100000"/>
              </a:lnSpc>
            </a:pPr>
            <a:r>
              <a:rPr sz="2700" b="1">
                <a:solidFill>
                  <a:srgbClr val="FFFFFF"/>
                </a:solidFill>
                <a:latin typeface="Aptos Display"/>
              </a:rPr>
              <a:t>Alice’s profile</a:t>
            </a:r>
            <a:br/>
            <a:r>
              <a:t>is ready.</a:t>
            </a:r>
          </a:p>
        </p:txBody>
      </p:sp>
      <p:sp>
        <p:nvSpPr>
          <p:cNvPr id="17" name="TextBox 16"/>
          <p:cNvSpPr txBox="1"/>
          <p:nvPr/>
        </p:nvSpPr>
        <p:spPr>
          <a:xfrm>
            <a:off x="8503920" y="3310128"/>
            <a:ext cx="2487168" cy="640080"/>
          </a:xfrm>
          <a:prstGeom prst="rect">
            <a:avLst/>
          </a:prstGeom>
          <a:noFill/>
        </p:spPr>
        <p:txBody>
          <a:bodyPr wrap="none" lIns="0" rIns="0" tIns="0" bIns="0" anchor="t">
            <a:spAutoFit/>
          </a:bodyPr>
          <a:lstStyle/>
          <a:p>
            <a:pPr algn="l">
              <a:lnSpc>
                <a:spcPct val="100000"/>
              </a:lnSpc>
            </a:pPr>
            <a:r>
              <a:rPr sz="1300" b="0">
                <a:solidFill>
                  <a:srgbClr val="A9B1C2"/>
                </a:solidFill>
                <a:latin typeface="Aptos"/>
              </a:rPr>
              <a:t>No setup. No card.</a:t>
            </a:r>
            <a:br/>
            <a:r>
              <a:t>Start with the top match.</a:t>
            </a:r>
          </a:p>
        </p:txBody>
      </p:sp>
      <p:sp>
        <p:nvSpPr>
          <p:cNvPr id="18" name="Rounded Rectangle 17"/>
          <p:cNvSpPr/>
          <p:nvPr/>
        </p:nvSpPr>
        <p:spPr>
          <a:xfrm>
            <a:off x="8503920" y="4251960"/>
            <a:ext cx="2615184" cy="512064"/>
          </a:xfrm>
          <a:prstGeom prst="roundRect">
            <a:avLst/>
          </a:prstGeom>
          <a:solidFill>
            <a:srgbClr val="FFFFFF"/>
          </a:solidFill>
          <a:ln w="12700">
            <a:solidFill>
              <a:srgbClr val="FFFFFF"/>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3920" y="4425696"/>
            <a:ext cx="2615184" cy="182880"/>
          </a:xfrm>
          <a:prstGeom prst="rect">
            <a:avLst/>
          </a:prstGeom>
          <a:noFill/>
        </p:spPr>
        <p:txBody>
          <a:bodyPr wrap="none" lIns="0" rIns="0" tIns="0" bIns="0" anchor="t">
            <a:spAutoFit/>
          </a:bodyPr>
          <a:lstStyle/>
          <a:p>
            <a:pPr algn="ctr">
              <a:lnSpc>
                <a:spcPct val="100000"/>
              </a:lnSpc>
            </a:pPr>
            <a:r>
              <a:rPr sz="1100" b="1">
                <a:solidFill>
                  <a:srgbClr val="0B1020"/>
                </a:solidFill>
                <a:latin typeface="Aptos"/>
              </a:rPr>
              <a:t>Open EduMatch  ↗</a:t>
            </a:r>
          </a:p>
        </p:txBody>
      </p:sp>
      <p:sp>
        <p:nvSpPr>
          <p:cNvPr id="20" name="TextBox 19"/>
          <p:cNvSpPr txBox="1"/>
          <p:nvPr/>
        </p:nvSpPr>
        <p:spPr>
          <a:xfrm>
            <a:off x="8485632" y="5029200"/>
            <a:ext cx="2697480" cy="201168"/>
          </a:xfrm>
          <a:prstGeom prst="rect">
            <a:avLst/>
          </a:prstGeom>
          <a:noFill/>
        </p:spPr>
        <p:txBody>
          <a:bodyPr wrap="none" lIns="0" rIns="0" tIns="0" bIns="0" anchor="t">
            <a:spAutoFit/>
          </a:bodyPr>
          <a:lstStyle/>
          <a:p>
            <a:pPr algn="l">
              <a:lnSpc>
                <a:spcPct val="100000"/>
              </a:lnSpc>
            </a:pPr>
            <a:r>
              <a:rPr sz="1000" b="1">
                <a:solidFill>
                  <a:srgbClr val="D9FF63"/>
                </a:solidFill>
                <a:latin typeface="Aptos"/>
              </a:rPr>
              <a:t>edumatch-web.onrender.com</a:t>
            </a:r>
          </a:p>
        </p:txBody>
      </p:sp>
      <p:sp>
        <p:nvSpPr>
          <p:cNvPr id="21" name="TextBox 20"/>
          <p:cNvSpPr txBox="1"/>
          <p:nvPr/>
        </p:nvSpPr>
        <p:spPr>
          <a:xfrm>
            <a:off x="713232" y="5897880"/>
            <a:ext cx="1828800" cy="274320"/>
          </a:xfrm>
          <a:prstGeom prst="rect">
            <a:avLst/>
          </a:prstGeom>
          <a:noFill/>
        </p:spPr>
        <p:txBody>
          <a:bodyPr wrap="none" lIns="0" rIns="0" tIns="0" bIns="0" anchor="t">
            <a:spAutoFit/>
          </a:bodyPr>
          <a:lstStyle/>
          <a:p>
            <a:pPr algn="l">
              <a:lnSpc>
                <a:spcPct val="100000"/>
              </a:lnSpc>
            </a:pPr>
            <a:r>
              <a:rPr sz="1400" b="1">
                <a:solidFill>
                  <a:srgbClr val="0B1020"/>
                </a:solidFill>
                <a:latin typeface="Aptos"/>
              </a:rPr>
              <a:t>Thank you.</a:t>
            </a:r>
          </a:p>
        </p:txBody>
      </p:sp>
      <p:sp>
        <p:nvSpPr>
          <p:cNvPr id="22" name="TextBox 21"/>
          <p:cNvSpPr txBox="1"/>
          <p:nvPr/>
        </p:nvSpPr>
        <p:spPr>
          <a:xfrm>
            <a:off x="9326880" y="5879592"/>
            <a:ext cx="1828800" cy="274320"/>
          </a:xfrm>
          <a:prstGeom prst="rect">
            <a:avLst/>
          </a:prstGeom>
          <a:noFill/>
        </p:spPr>
        <p:txBody>
          <a:bodyPr wrap="none" lIns="0" rIns="0" tIns="0" bIns="0" anchor="t">
            <a:spAutoFit/>
          </a:bodyPr>
          <a:lstStyle/>
          <a:p>
            <a:pPr algn="r">
              <a:lnSpc>
                <a:spcPct val="100000"/>
              </a:lnSpc>
            </a:pPr>
            <a:r>
              <a:rPr sz="1400" b="1">
                <a:solidFill>
                  <a:srgbClr val="0B1020"/>
                </a:solidFill>
                <a:latin typeface="Aptos"/>
              </a:rPr>
              <a:t>Questions?</a:t>
            </a:r>
          </a:p>
        </p:txBody>
      </p:sp>
      <p:sp>
        <p:nvSpPr>
          <p:cNvPr id="23" name="TextBox 22"/>
          <p:cNvSpPr txBox="1"/>
          <p:nvPr/>
        </p:nvSpPr>
        <p:spPr>
          <a:xfrm>
            <a:off x="640080" y="6510528"/>
            <a:ext cx="2743200" cy="164592"/>
          </a:xfrm>
          <a:prstGeom prst="rect">
            <a:avLst/>
          </a:prstGeom>
          <a:noFill/>
        </p:spPr>
        <p:txBody>
          <a:bodyPr wrap="none" lIns="0" rIns="0" tIns="0" bIns="0" anchor="t">
            <a:spAutoFit/>
          </a:bodyPr>
          <a:lstStyle/>
          <a:p>
            <a:pPr algn="l">
              <a:lnSpc>
                <a:spcPct val="100000"/>
              </a:lnSpc>
            </a:pPr>
            <a:r>
              <a:rPr sz="750" b="1">
                <a:solidFill>
                  <a:srgbClr val="8A93A5"/>
                </a:solidFill>
                <a:latin typeface="Aptos"/>
              </a:rPr>
              <a:t>EDUMATCH · HACKMIT 2026</a:t>
            </a:r>
          </a:p>
        </p:txBody>
      </p:sp>
      <p:sp>
        <p:nvSpPr>
          <p:cNvPr id="24" name="TextBox 23"/>
          <p:cNvSpPr txBox="1"/>
          <p:nvPr/>
        </p:nvSpPr>
        <p:spPr>
          <a:xfrm>
            <a:off x="11018520" y="6473952"/>
            <a:ext cx="502920" cy="201168"/>
          </a:xfrm>
          <a:prstGeom prst="rect">
            <a:avLst/>
          </a:prstGeom>
          <a:noFill/>
        </p:spPr>
        <p:txBody>
          <a:bodyPr wrap="none" lIns="0" rIns="0" tIns="0" bIns="0" anchor="t">
            <a:spAutoFit/>
          </a:bodyPr>
          <a:lstStyle/>
          <a:p>
            <a:pPr algn="r">
              <a:lnSpc>
                <a:spcPct val="100000"/>
              </a:lnSpc>
            </a:pPr>
            <a:r>
              <a:rPr sz="800" b="1">
                <a:solidFill>
                  <a:srgbClr val="8A93A5"/>
                </a:solidFill>
                <a:latin typeface="Aptos"/>
              </a:rPr>
              <a:t>08</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EduMatch — HackMIT 2026 Pitch</dc:title>
  <dc:subject>Explainable professional matching and classroom support for educators</dc:subject>
  <dc:creator>EduMatch</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